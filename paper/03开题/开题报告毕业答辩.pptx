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6"/>
  </p:notesMasterIdLst>
  <p:handoutMasterIdLst>
    <p:handoutMasterId r:id="rId17"/>
  </p:handoutMasterIdLst>
  <p:sldIdLst>
    <p:sldId id="409" r:id="rId3"/>
    <p:sldId id="410" r:id="rId4"/>
    <p:sldId id="411" r:id="rId5"/>
    <p:sldId id="459" r:id="rId6"/>
    <p:sldId id="416" r:id="rId7"/>
    <p:sldId id="454" r:id="rId8"/>
    <p:sldId id="458" r:id="rId9"/>
    <p:sldId id="460" r:id="rId10"/>
    <p:sldId id="419" r:id="rId11"/>
    <p:sldId id="455" r:id="rId12"/>
    <p:sldId id="427" r:id="rId13"/>
    <p:sldId id="456" r:id="rId14"/>
    <p:sldId id="457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8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F4"/>
    <a:srgbClr val="FFFFFF"/>
    <a:srgbClr val="F0FAFB"/>
    <a:srgbClr val="FFEDEC"/>
    <a:srgbClr val="28B0E2"/>
    <a:srgbClr val="FA90A7"/>
    <a:srgbClr val="DC8680"/>
    <a:srgbClr val="5272A7"/>
    <a:srgbClr val="FCCFDD"/>
    <a:srgbClr val="FA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3642" autoAdjust="0"/>
  </p:normalViewPr>
  <p:slideViewPr>
    <p:cSldViewPr snapToGrid="0" showGuides="1">
      <p:cViewPr varScale="1">
        <p:scale>
          <a:sx n="82" d="100"/>
          <a:sy n="82" d="100"/>
        </p:scale>
        <p:origin x="773" y="62"/>
      </p:cViewPr>
      <p:guideLst>
        <p:guide orient="horz" pos="2318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宋体" panose="02020400000000000000" charset="-122"/>
              </a:rPr>
              <a:t>2024/12/31</a:t>
            </a:fld>
            <a:endParaRPr lang="zh-CN" altLang="en-US">
              <a:cs typeface="思源宋体" panose="0202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宋体" panose="02020400000000000000" charset="-122"/>
              </a:rPr>
              <a:t>‹#›</a:t>
            </a:fld>
            <a:endParaRPr lang="zh-CN" altLang="en-US">
              <a:cs typeface="思源宋体" panose="0202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74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" panose="02020400000000000000" charset="-122"/>
        <a:ea typeface="思源宋体" panose="02020400000000000000" charset="-122"/>
        <a:cs typeface="思源宋体" panose="020204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96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A15B-2979-40C2-017A-C739BFE0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CB1A40-F2B2-936F-DE9C-AD06990C0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B964B-A26A-1BE0-9AFF-66D7B0779C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39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16305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sp>
        <p:nvSpPr>
          <p:cNvPr id="41" name="平行四边形 40"/>
          <p:cNvSpPr/>
          <p:nvPr userDrawn="1"/>
        </p:nvSpPr>
        <p:spPr>
          <a:xfrm>
            <a:off x="288926" y="373380"/>
            <a:ext cx="1784985" cy="203200"/>
          </a:xfrm>
          <a:prstGeom prst="parallelogram">
            <a:avLst>
              <a:gd name="adj" fmla="val 2216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-129540" y="6094730"/>
            <a:ext cx="12452351" cy="805180"/>
            <a:chOff x="-204" y="8021"/>
            <a:chExt cx="19610" cy="2991"/>
          </a:xfrm>
        </p:grpSpPr>
        <p:sp>
          <p:nvSpPr>
            <p:cNvPr id="35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449581" y="312421"/>
            <a:ext cx="3124835" cy="584740"/>
            <a:chOff x="6730" y="2714"/>
            <a:chExt cx="10670" cy="1995"/>
          </a:xfrm>
        </p:grpSpPr>
        <p:sp>
          <p:nvSpPr>
            <p:cNvPr id="39" name="平行四边形 38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30" y="2714"/>
              <a:ext cx="10480" cy="1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研究背景意义</a:t>
              </a:r>
            </a:p>
          </p:txBody>
        </p:sp>
      </p:grp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16305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sp>
        <p:nvSpPr>
          <p:cNvPr id="41" name="平行四边形 40"/>
          <p:cNvSpPr/>
          <p:nvPr userDrawn="1"/>
        </p:nvSpPr>
        <p:spPr>
          <a:xfrm>
            <a:off x="288926" y="373380"/>
            <a:ext cx="1784985" cy="203200"/>
          </a:xfrm>
          <a:prstGeom prst="parallelogram">
            <a:avLst>
              <a:gd name="adj" fmla="val 2216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-129540" y="6094730"/>
            <a:ext cx="12452351" cy="805180"/>
            <a:chOff x="-204" y="8021"/>
            <a:chExt cx="19610" cy="2991"/>
          </a:xfrm>
        </p:grpSpPr>
        <p:sp>
          <p:nvSpPr>
            <p:cNvPr id="35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449581" y="312421"/>
            <a:ext cx="3124835" cy="584740"/>
            <a:chOff x="6730" y="2714"/>
            <a:chExt cx="10670" cy="1995"/>
          </a:xfrm>
        </p:grpSpPr>
        <p:sp>
          <p:nvSpPr>
            <p:cNvPr id="39" name="平行四边形 38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30" y="2714"/>
              <a:ext cx="10480" cy="1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研究方法思路</a:t>
              </a:r>
            </a:p>
          </p:txBody>
        </p:sp>
      </p:grpSp>
    </p:spTree>
  </p:cSld>
  <p:clrMapOvr>
    <a:masterClrMapping/>
  </p:clrMapOvr>
  <p:transition advTm="2000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16305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sp>
        <p:nvSpPr>
          <p:cNvPr id="41" name="平行四边形 40"/>
          <p:cNvSpPr/>
          <p:nvPr userDrawn="1"/>
        </p:nvSpPr>
        <p:spPr>
          <a:xfrm>
            <a:off x="288926" y="373380"/>
            <a:ext cx="1784985" cy="203200"/>
          </a:xfrm>
          <a:prstGeom prst="parallelogram">
            <a:avLst>
              <a:gd name="adj" fmla="val 2216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-129540" y="6094730"/>
            <a:ext cx="12452351" cy="805180"/>
            <a:chOff x="-204" y="8021"/>
            <a:chExt cx="19610" cy="2991"/>
          </a:xfrm>
        </p:grpSpPr>
        <p:sp>
          <p:nvSpPr>
            <p:cNvPr id="35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449581" y="312421"/>
            <a:ext cx="3124835" cy="584740"/>
            <a:chOff x="6730" y="2714"/>
            <a:chExt cx="10670" cy="1995"/>
          </a:xfrm>
        </p:grpSpPr>
        <p:sp>
          <p:nvSpPr>
            <p:cNvPr id="39" name="平行四边形 38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30" y="2714"/>
              <a:ext cx="10480" cy="1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项目成果应用</a:t>
              </a:r>
            </a:p>
          </p:txBody>
        </p:sp>
      </p:grpSp>
    </p:spTree>
  </p:cSld>
  <p:clrMapOvr>
    <a:masterClrMapping/>
  </p:clrMapOvr>
  <p:transition advTm="2000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16305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sp>
        <p:nvSpPr>
          <p:cNvPr id="41" name="平行四边形 40"/>
          <p:cNvSpPr/>
          <p:nvPr userDrawn="1"/>
        </p:nvSpPr>
        <p:spPr>
          <a:xfrm>
            <a:off x="288926" y="373380"/>
            <a:ext cx="1784985" cy="203200"/>
          </a:xfrm>
          <a:prstGeom prst="parallelogram">
            <a:avLst>
              <a:gd name="adj" fmla="val 22160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-129540" y="6094730"/>
            <a:ext cx="12452351" cy="805180"/>
            <a:chOff x="-204" y="8021"/>
            <a:chExt cx="19610" cy="2991"/>
          </a:xfrm>
        </p:grpSpPr>
        <p:sp>
          <p:nvSpPr>
            <p:cNvPr id="35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449581" y="312421"/>
            <a:ext cx="3124835" cy="584740"/>
            <a:chOff x="6730" y="2714"/>
            <a:chExt cx="10670" cy="1995"/>
          </a:xfrm>
        </p:grpSpPr>
        <p:sp>
          <p:nvSpPr>
            <p:cNvPr id="39" name="平行四边形 38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30" y="2714"/>
              <a:ext cx="10480" cy="1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ea"/>
                </a:rPr>
                <a:t>项目总结分析</a:t>
              </a:r>
            </a:p>
          </p:txBody>
        </p:sp>
      </p:grpSp>
    </p:spTree>
  </p:cSld>
  <p:clrMapOvr>
    <a:masterClrMapping/>
  </p:clrMapOvr>
  <p:transition advTm="2000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547610511"/>
      </p:ext>
    </p:extLst>
  </p:cSld>
  <p:clrMapOvr>
    <a:masterClrMapping/>
  </p:clrMapOvr>
  <p:transition advTm="2000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2024/12/31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58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2024/12/31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87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3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4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1" Type="http://schemas.openxmlformats.org/officeDocument/2006/relationships/image" Target="../media/image2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1.jpe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4.png"/><Relationship Id="rId10" Type="http://schemas.openxmlformats.org/officeDocument/2006/relationships/tags" Target="../tags/tag12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9" Type="http://schemas.openxmlformats.org/officeDocument/2006/relationships/tags" Target="../tags/tag58.xml"/><Relationship Id="rId21" Type="http://schemas.openxmlformats.org/officeDocument/2006/relationships/tags" Target="../tags/tag40.xml"/><Relationship Id="rId34" Type="http://schemas.openxmlformats.org/officeDocument/2006/relationships/tags" Target="../tags/tag53.xml"/><Relationship Id="rId42" Type="http://schemas.openxmlformats.org/officeDocument/2006/relationships/tags" Target="../tags/tag61.xml"/><Relationship Id="rId47" Type="http://schemas.openxmlformats.org/officeDocument/2006/relationships/tags" Target="../tags/tag66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9" Type="http://schemas.openxmlformats.org/officeDocument/2006/relationships/tags" Target="../tags/tag48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tags" Target="../tags/tag51.xml"/><Relationship Id="rId37" Type="http://schemas.openxmlformats.org/officeDocument/2006/relationships/tags" Target="../tags/tag56.xml"/><Relationship Id="rId40" Type="http://schemas.openxmlformats.org/officeDocument/2006/relationships/tags" Target="../tags/tag59.xml"/><Relationship Id="rId45" Type="http://schemas.openxmlformats.org/officeDocument/2006/relationships/tags" Target="../tags/tag64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36" Type="http://schemas.openxmlformats.org/officeDocument/2006/relationships/tags" Target="../tags/tag55.xml"/><Relationship Id="rId49" Type="http://schemas.openxmlformats.org/officeDocument/2006/relationships/image" Target="../media/image1.jpeg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tags" Target="../tags/tag50.xml"/><Relationship Id="rId44" Type="http://schemas.openxmlformats.org/officeDocument/2006/relationships/tags" Target="../tags/tag63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35" Type="http://schemas.openxmlformats.org/officeDocument/2006/relationships/tags" Target="../tags/tag54.xml"/><Relationship Id="rId43" Type="http://schemas.openxmlformats.org/officeDocument/2006/relationships/tags" Target="../tags/tag62.xml"/><Relationship Id="rId48" Type="http://schemas.openxmlformats.org/officeDocument/2006/relationships/slideLayout" Target="../slideLayouts/slideLayout1.xml"/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tags" Target="../tags/tag52.xml"/><Relationship Id="rId38" Type="http://schemas.openxmlformats.org/officeDocument/2006/relationships/tags" Target="../tags/tag57.xml"/><Relationship Id="rId46" Type="http://schemas.openxmlformats.org/officeDocument/2006/relationships/tags" Target="../tags/tag65.xml"/><Relationship Id="rId20" Type="http://schemas.openxmlformats.org/officeDocument/2006/relationships/tags" Target="../tags/tag39.xml"/><Relationship Id="rId41" Type="http://schemas.openxmlformats.org/officeDocument/2006/relationships/tags" Target="../tags/tag60.xml"/><Relationship Id="rId1" Type="http://schemas.openxmlformats.org/officeDocument/2006/relationships/tags" Target="../tags/tag20.xml"/><Relationship Id="rId6" Type="http://schemas.openxmlformats.org/officeDocument/2006/relationships/tags" Target="../tags/tag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image" Target="../media/image6.pn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1.jpeg"/><Relationship Id="rId5" Type="http://schemas.openxmlformats.org/officeDocument/2006/relationships/tags" Target="../tags/tag7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86.xml"/><Relationship Id="rId7" Type="http://schemas.openxmlformats.org/officeDocument/2006/relationships/image" Target="../media/image9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11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21" Type="http://schemas.openxmlformats.org/officeDocument/2006/relationships/tags" Target="../tags/tag111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tags" Target="../tags/tag110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image" Target="../media/image1.jpeg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6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16305"/>
          <p:cNvPicPr>
            <a:picLocks noChangeAspect="1"/>
          </p:cNvPicPr>
          <p:nvPr/>
        </p:nvPicPr>
        <p:blipFill>
          <a:blip r:embed="rId20">
            <a:alphaModFix amt="8000"/>
          </a:blip>
          <a:srcRect t="7813" b="781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10" name="任意多边形: 形状 9"/>
          <p:cNvSpPr/>
          <p:nvPr/>
        </p:nvSpPr>
        <p:spPr>
          <a:xfrm rot="10800000" flipH="1" flipV="1">
            <a:off x="-129360" y="5093227"/>
            <a:ext cx="12453259" cy="1370654"/>
          </a:xfrm>
          <a:custGeom>
            <a:avLst/>
            <a:gdLst>
              <a:gd name="connsiteX0" fmla="*/ 12453258 w 12453258"/>
              <a:gd name="connsiteY0" fmla="*/ 0 h 1370654"/>
              <a:gd name="connsiteX1" fmla="*/ 12453258 w 12453258"/>
              <a:gd name="connsiteY1" fmla="*/ 1370654 h 1370654"/>
              <a:gd name="connsiteX2" fmla="*/ 0 w 12453258"/>
              <a:gd name="connsiteY2" fmla="*/ 1370654 h 1370654"/>
              <a:gd name="connsiteX3" fmla="*/ 0 w 12453258"/>
              <a:gd name="connsiteY3" fmla="*/ 92 h 1370654"/>
              <a:gd name="connsiteX4" fmla="*/ 271845 w 12453258"/>
              <a:gd name="connsiteY4" fmla="*/ 5877 h 1370654"/>
              <a:gd name="connsiteX5" fmla="*/ 3623692 w 12453258"/>
              <a:gd name="connsiteY5" fmla="*/ 173543 h 1370654"/>
              <a:gd name="connsiteX6" fmla="*/ 6002355 w 12453258"/>
              <a:gd name="connsiteY6" fmla="*/ 805477 h 1370654"/>
              <a:gd name="connsiteX7" fmla="*/ 6224177 w 12453258"/>
              <a:gd name="connsiteY7" fmla="*/ 1079286 h 1370654"/>
              <a:gd name="connsiteX8" fmla="*/ 6224457 w 12453258"/>
              <a:gd name="connsiteY8" fmla="*/ 1079981 h 1370654"/>
              <a:gd name="connsiteX9" fmla="*/ 6224738 w 12453258"/>
              <a:gd name="connsiteY9" fmla="*/ 1079286 h 1370654"/>
              <a:gd name="connsiteX10" fmla="*/ 6446561 w 12453258"/>
              <a:gd name="connsiteY10" fmla="*/ 805477 h 1370654"/>
              <a:gd name="connsiteX11" fmla="*/ 8825222 w 12453258"/>
              <a:gd name="connsiteY11" fmla="*/ 173543 h 1370654"/>
              <a:gd name="connsiteX12" fmla="*/ 12177070 w 12453258"/>
              <a:gd name="connsiteY12" fmla="*/ 5877 h 1370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453258" h="1370654">
                <a:moveTo>
                  <a:pt x="12453258" y="0"/>
                </a:moveTo>
                <a:lnTo>
                  <a:pt x="12453258" y="1370654"/>
                </a:lnTo>
                <a:lnTo>
                  <a:pt x="0" y="1370654"/>
                </a:lnTo>
                <a:lnTo>
                  <a:pt x="0" y="92"/>
                </a:lnTo>
                <a:lnTo>
                  <a:pt x="271845" y="5877"/>
                </a:lnTo>
                <a:cubicBezTo>
                  <a:pt x="1575973" y="35990"/>
                  <a:pt x="2765918" y="81856"/>
                  <a:pt x="3623692" y="173543"/>
                </a:cubicBezTo>
                <a:cubicBezTo>
                  <a:pt x="4930780" y="313255"/>
                  <a:pt x="5556442" y="445284"/>
                  <a:pt x="6002355" y="805477"/>
                </a:cubicBezTo>
                <a:cubicBezTo>
                  <a:pt x="6099896" y="884269"/>
                  <a:pt x="6171879" y="977029"/>
                  <a:pt x="6224177" y="1079286"/>
                </a:cubicBezTo>
                <a:lnTo>
                  <a:pt x="6224457" y="1079981"/>
                </a:lnTo>
                <a:lnTo>
                  <a:pt x="6224738" y="1079286"/>
                </a:lnTo>
                <a:cubicBezTo>
                  <a:pt x="6277037" y="977029"/>
                  <a:pt x="6349018" y="884269"/>
                  <a:pt x="6446561" y="805477"/>
                </a:cubicBezTo>
                <a:cubicBezTo>
                  <a:pt x="6892472" y="445284"/>
                  <a:pt x="7518137" y="313255"/>
                  <a:pt x="8825222" y="173543"/>
                </a:cubicBezTo>
                <a:cubicBezTo>
                  <a:pt x="9682996" y="81856"/>
                  <a:pt x="10872942" y="35991"/>
                  <a:pt x="12177070" y="5877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3" name="任意多边形: 形状 9"/>
          <p:cNvSpPr/>
          <p:nvPr/>
        </p:nvSpPr>
        <p:spPr>
          <a:xfrm rot="10800000" flipH="1" flipV="1">
            <a:off x="-129360" y="5622182"/>
            <a:ext cx="12453259" cy="1370654"/>
          </a:xfrm>
          <a:custGeom>
            <a:avLst/>
            <a:gdLst>
              <a:gd name="connsiteX0" fmla="*/ 12453258 w 12453258"/>
              <a:gd name="connsiteY0" fmla="*/ 0 h 1370654"/>
              <a:gd name="connsiteX1" fmla="*/ 12453258 w 12453258"/>
              <a:gd name="connsiteY1" fmla="*/ 1370654 h 1370654"/>
              <a:gd name="connsiteX2" fmla="*/ 0 w 12453258"/>
              <a:gd name="connsiteY2" fmla="*/ 1370654 h 1370654"/>
              <a:gd name="connsiteX3" fmla="*/ 0 w 12453258"/>
              <a:gd name="connsiteY3" fmla="*/ 92 h 1370654"/>
              <a:gd name="connsiteX4" fmla="*/ 271845 w 12453258"/>
              <a:gd name="connsiteY4" fmla="*/ 5877 h 1370654"/>
              <a:gd name="connsiteX5" fmla="*/ 3623692 w 12453258"/>
              <a:gd name="connsiteY5" fmla="*/ 173543 h 1370654"/>
              <a:gd name="connsiteX6" fmla="*/ 6002355 w 12453258"/>
              <a:gd name="connsiteY6" fmla="*/ 805477 h 1370654"/>
              <a:gd name="connsiteX7" fmla="*/ 6224177 w 12453258"/>
              <a:gd name="connsiteY7" fmla="*/ 1079286 h 1370654"/>
              <a:gd name="connsiteX8" fmla="*/ 6224457 w 12453258"/>
              <a:gd name="connsiteY8" fmla="*/ 1079981 h 1370654"/>
              <a:gd name="connsiteX9" fmla="*/ 6224738 w 12453258"/>
              <a:gd name="connsiteY9" fmla="*/ 1079286 h 1370654"/>
              <a:gd name="connsiteX10" fmla="*/ 6446561 w 12453258"/>
              <a:gd name="connsiteY10" fmla="*/ 805477 h 1370654"/>
              <a:gd name="connsiteX11" fmla="*/ 8825222 w 12453258"/>
              <a:gd name="connsiteY11" fmla="*/ 173543 h 1370654"/>
              <a:gd name="connsiteX12" fmla="*/ 12177070 w 12453258"/>
              <a:gd name="connsiteY12" fmla="*/ 5877 h 1370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453258" h="1370654">
                <a:moveTo>
                  <a:pt x="12453258" y="0"/>
                </a:moveTo>
                <a:lnTo>
                  <a:pt x="12453258" y="1370654"/>
                </a:lnTo>
                <a:lnTo>
                  <a:pt x="0" y="1370654"/>
                </a:lnTo>
                <a:lnTo>
                  <a:pt x="0" y="92"/>
                </a:lnTo>
                <a:lnTo>
                  <a:pt x="271845" y="5877"/>
                </a:lnTo>
                <a:cubicBezTo>
                  <a:pt x="1575973" y="35990"/>
                  <a:pt x="2765918" y="81856"/>
                  <a:pt x="3623692" y="173543"/>
                </a:cubicBezTo>
                <a:cubicBezTo>
                  <a:pt x="4930780" y="313255"/>
                  <a:pt x="5556442" y="445284"/>
                  <a:pt x="6002355" y="805477"/>
                </a:cubicBezTo>
                <a:cubicBezTo>
                  <a:pt x="6099896" y="884269"/>
                  <a:pt x="6171879" y="977029"/>
                  <a:pt x="6224177" y="1079286"/>
                </a:cubicBezTo>
                <a:lnTo>
                  <a:pt x="6224457" y="1079981"/>
                </a:lnTo>
                <a:lnTo>
                  <a:pt x="6224738" y="1079286"/>
                </a:lnTo>
                <a:cubicBezTo>
                  <a:pt x="6277037" y="977029"/>
                  <a:pt x="6349018" y="884269"/>
                  <a:pt x="6446561" y="805477"/>
                </a:cubicBezTo>
                <a:cubicBezTo>
                  <a:pt x="6892472" y="445284"/>
                  <a:pt x="7518137" y="313255"/>
                  <a:pt x="8825222" y="173543"/>
                </a:cubicBezTo>
                <a:cubicBezTo>
                  <a:pt x="9682996" y="81856"/>
                  <a:pt x="10872942" y="35991"/>
                  <a:pt x="12177070" y="5877"/>
                </a:cubicBezTo>
                <a:close/>
              </a:path>
            </a:pathLst>
          </a:custGeom>
          <a:gradFill>
            <a:gsLst>
              <a:gs pos="71000">
                <a:srgbClr val="9CDBE5">
                  <a:alpha val="100000"/>
                </a:srgbClr>
              </a:gs>
              <a:gs pos="100000">
                <a:schemeClr val="accent2">
                  <a:lumMod val="40000"/>
                  <a:lumOff val="60000"/>
                </a:schemeClr>
              </a:gs>
              <a:gs pos="0">
                <a:schemeClr val="accent2"/>
              </a:gs>
            </a:gsLst>
            <a:lin ang="1080000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7" name="图形"/>
          <p:cNvSpPr txBox="1"/>
          <p:nvPr/>
        </p:nvSpPr>
        <p:spPr>
          <a:xfrm>
            <a:off x="1704657" y="1820792"/>
            <a:ext cx="8782685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zh-CN" sz="3200" dirty="0"/>
              <a:t>“饭来了”校园外卖平台的设计与实现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包图粗黑体" panose="02000800000000000000" charset="-122"/>
              <a:sym typeface="Arial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101012" y="337791"/>
            <a:ext cx="9628901" cy="1368065"/>
            <a:chOff x="4796" y="1335"/>
            <a:chExt cx="10132" cy="1364"/>
          </a:xfrm>
        </p:grpSpPr>
        <p:sp>
          <p:nvSpPr>
            <p:cNvPr id="7" name="平行四边形 6"/>
            <p:cNvSpPr/>
            <p:nvPr/>
          </p:nvSpPr>
          <p:spPr>
            <a:xfrm flipH="1" flipV="1">
              <a:off x="12669" y="2301"/>
              <a:ext cx="1859" cy="268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4796" y="1335"/>
              <a:ext cx="10132" cy="1364"/>
              <a:chOff x="4338" y="1178"/>
              <a:chExt cx="10132" cy="1364"/>
            </a:xfrm>
          </p:grpSpPr>
          <p:sp>
            <p:nvSpPr>
              <p:cNvPr id="40" name="平行四边形 39"/>
              <p:cNvSpPr/>
              <p:nvPr/>
            </p:nvSpPr>
            <p:spPr>
              <a:xfrm>
                <a:off x="4338" y="1683"/>
                <a:ext cx="5493" cy="859"/>
              </a:xfrm>
              <a:prstGeom prst="parallelogram">
                <a:avLst>
                  <a:gd name="adj" fmla="val 2216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4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0154" y="1178"/>
                <a:ext cx="4316" cy="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b="1" dirty="0">
                    <a:solidFill>
                      <a:schemeClr val="accent2"/>
                    </a:solidFill>
                    <a:latin typeface="思源宋体 CN Heavy" pitchFamily="18" charset="-122"/>
                    <a:ea typeface="思源宋体 CN Heavy" pitchFamily="18" charset="-122"/>
                    <a:sym typeface="Arial"/>
                  </a:rPr>
                  <a:t>开题</a:t>
                </a:r>
                <a:r>
                  <a:rPr lang="zh-CN" alt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itchFamily="18" charset="-122"/>
                    <a:ea typeface="思源宋体 CN Heavy" pitchFamily="18" charset="-122"/>
                    <a:sym typeface="Arial"/>
                  </a:rPr>
                  <a:t>报告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572" y="1814"/>
                <a:ext cx="4607" cy="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sym typeface="Arial"/>
                  </a:rPr>
                  <a:t>数学与计算机学院</a:t>
                </a:r>
              </a:p>
            </p:txBody>
          </p:sp>
        </p:grpSp>
      </p:grpSp>
      <p:grpSp>
        <p:nvGrpSpPr>
          <p:cNvPr id="1070" name="组合 1069"/>
          <p:cNvGrpSpPr/>
          <p:nvPr/>
        </p:nvGrpSpPr>
        <p:grpSpPr>
          <a:xfrm>
            <a:off x="11054080" y="480033"/>
            <a:ext cx="644349" cy="146060"/>
            <a:chOff x="4438457" y="299555"/>
            <a:chExt cx="1007449" cy="228367"/>
          </a:xfrm>
        </p:grpSpPr>
        <p:sp>
          <p:nvSpPr>
            <p:cNvPr id="1067" name="椭圆 1066"/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/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/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825A58-E194-9C3D-4386-5A238840C33B}"/>
              </a:ext>
            </a:extLst>
          </p:cNvPr>
          <p:cNvGrpSpPr/>
          <p:nvPr/>
        </p:nvGrpSpPr>
        <p:grpSpPr>
          <a:xfrm>
            <a:off x="3824460" y="3846881"/>
            <a:ext cx="5121911" cy="542925"/>
            <a:chOff x="1380" y="7881"/>
            <a:chExt cx="8066" cy="85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BB025EE-4369-3661-7945-21B8CBD2BDF3}"/>
                </a:ext>
              </a:extLst>
            </p:cNvPr>
            <p:cNvGrpSpPr/>
            <p:nvPr/>
          </p:nvGrpSpPr>
          <p:grpSpPr>
            <a:xfrm>
              <a:off x="1380" y="7881"/>
              <a:ext cx="3499" cy="702"/>
              <a:chOff x="1145" y="8158"/>
              <a:chExt cx="3499" cy="702"/>
            </a:xfrm>
          </p:grpSpPr>
          <p:sp>
            <p:nvSpPr>
              <p:cNvPr id="20" name="图形">
                <a:extLst>
                  <a:ext uri="{FF2B5EF4-FFF2-40B4-BE49-F238E27FC236}">
                    <a16:creationId xmlns:a16="http://schemas.microsoft.com/office/drawing/2014/main" id="{4D461688-E2F7-941A-E431-657B5B7D6CCF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1439" y="8158"/>
                <a:ext cx="3205" cy="70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21" name="图形">
                <a:extLst>
                  <a:ext uri="{FF2B5EF4-FFF2-40B4-BE49-F238E27FC236}">
                    <a16:creationId xmlns:a16="http://schemas.microsoft.com/office/drawing/2014/main" id="{BE2B4FA5-FFA7-9F7D-03FC-8D3B4FD7E347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145" y="8158"/>
                <a:ext cx="974" cy="7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69000">
                    <a:srgbClr val="8ED6E1">
                      <a:alpha val="100000"/>
                    </a:srgbClr>
                  </a:gs>
                  <a:gs pos="0">
                    <a:schemeClr val="accent2"/>
                  </a:gs>
                </a:gsLst>
                <a:lin ang="10800000" scaled="0"/>
              </a:gra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22" name="图形">
                <a:extLst>
                  <a:ext uri="{FF2B5EF4-FFF2-40B4-BE49-F238E27FC236}">
                    <a16:creationId xmlns:a16="http://schemas.microsoft.com/office/drawing/2014/main" id="{9CBA86EB-380B-0094-76B8-42AF637B3026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040" y="8227"/>
                <a:ext cx="2524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汇报：杨自强</a:t>
                </a:r>
              </a:p>
            </p:txBody>
          </p:sp>
          <p:pic>
            <p:nvPicPr>
              <p:cNvPr id="23" name="图形" descr="303b32313533373635313bbbe3b1a8d5df">
                <a:extLst>
                  <a:ext uri="{FF2B5EF4-FFF2-40B4-BE49-F238E27FC236}">
                    <a16:creationId xmlns:a16="http://schemas.microsoft.com/office/drawing/2014/main" id="{E9F5C274-6BCC-BCA2-8A28-8BF993DE127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380" y="8287"/>
                <a:ext cx="445" cy="444"/>
              </a:xfrm>
              <a:prstGeom prst="rect">
                <a:avLst/>
              </a:prstGeom>
            </p:spPr>
          </p:pic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DECDBB5-C7A1-7966-6E46-BF8E68872A6C}"/>
                </a:ext>
              </a:extLst>
            </p:cNvPr>
            <p:cNvGrpSpPr/>
            <p:nvPr/>
          </p:nvGrpSpPr>
          <p:grpSpPr>
            <a:xfrm>
              <a:off x="5050" y="7892"/>
              <a:ext cx="4396" cy="844"/>
              <a:chOff x="7188" y="8158"/>
              <a:chExt cx="4396" cy="844"/>
            </a:xfrm>
          </p:grpSpPr>
          <p:sp>
            <p:nvSpPr>
              <p:cNvPr id="9" name="图形">
                <a:extLst>
                  <a:ext uri="{FF2B5EF4-FFF2-40B4-BE49-F238E27FC236}">
                    <a16:creationId xmlns:a16="http://schemas.microsoft.com/office/drawing/2014/main" id="{074AEF3F-E4FF-40FB-6F48-86A22C2D1CFD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482" y="8158"/>
                <a:ext cx="4102" cy="844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16" name="图形">
                <a:extLst>
                  <a:ext uri="{FF2B5EF4-FFF2-40B4-BE49-F238E27FC236}">
                    <a16:creationId xmlns:a16="http://schemas.microsoft.com/office/drawing/2014/main" id="{4B3E3E16-CDEB-76DC-7617-60406CFA7336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7188" y="8158"/>
                <a:ext cx="974" cy="7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8000">
                    <a:srgbClr val="FB9282">
                      <a:alpha val="100000"/>
                    </a:srgb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18" name="图形">
                <a:extLst>
                  <a:ext uri="{FF2B5EF4-FFF2-40B4-BE49-F238E27FC236}">
                    <a16:creationId xmlns:a16="http://schemas.microsoft.com/office/drawing/2014/main" id="{FD9E573C-ABC2-2627-3918-2474DD60BEF4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7473" y="8287"/>
                <a:ext cx="462" cy="392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2000" dirty="0">
                  <a:solidFill>
                    <a:srgbClr val="8CC345"/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19" name="图形">
                <a:extLst>
                  <a:ext uri="{FF2B5EF4-FFF2-40B4-BE49-F238E27FC236}">
                    <a16:creationId xmlns:a16="http://schemas.microsoft.com/office/drawing/2014/main" id="{F120D3C1-AF3E-4B54-3670-7BB0C1E5B744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139" y="8255"/>
                <a:ext cx="2869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effectLst/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指导老师：兰全祥</a:t>
                </a:r>
                <a:endPara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1058017-7A41-F78F-DA6F-81F2A4C0ABAC}"/>
              </a:ext>
            </a:extLst>
          </p:cNvPr>
          <p:cNvGrpSpPr/>
          <p:nvPr/>
        </p:nvGrpSpPr>
        <p:grpSpPr>
          <a:xfrm>
            <a:off x="3824460" y="4640472"/>
            <a:ext cx="5159376" cy="452755"/>
            <a:chOff x="1380" y="7881"/>
            <a:chExt cx="8125" cy="713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68DC718-344E-6A2A-A061-4C02B93432A9}"/>
                </a:ext>
              </a:extLst>
            </p:cNvPr>
            <p:cNvGrpSpPr/>
            <p:nvPr/>
          </p:nvGrpSpPr>
          <p:grpSpPr>
            <a:xfrm>
              <a:off x="1380" y="7881"/>
              <a:ext cx="3558" cy="702"/>
              <a:chOff x="1145" y="8158"/>
              <a:chExt cx="3558" cy="702"/>
            </a:xfrm>
          </p:grpSpPr>
          <p:sp>
            <p:nvSpPr>
              <p:cNvPr id="45" name="图形">
                <a:extLst>
                  <a:ext uri="{FF2B5EF4-FFF2-40B4-BE49-F238E27FC236}">
                    <a16:creationId xmlns:a16="http://schemas.microsoft.com/office/drawing/2014/main" id="{B352F9F1-3B77-3C4E-6B77-2D8D1A659506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439" y="8158"/>
                <a:ext cx="3205" cy="70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46" name="图形">
                <a:extLst>
                  <a:ext uri="{FF2B5EF4-FFF2-40B4-BE49-F238E27FC236}">
                    <a16:creationId xmlns:a16="http://schemas.microsoft.com/office/drawing/2014/main" id="{E80307ED-8884-5983-5D6C-A36D9B1F4BE8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145" y="8158"/>
                <a:ext cx="974" cy="7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69000">
                    <a:srgbClr val="8ED6E1">
                      <a:alpha val="100000"/>
                    </a:srgbClr>
                  </a:gs>
                  <a:gs pos="0">
                    <a:schemeClr val="accent2"/>
                  </a:gs>
                </a:gsLst>
                <a:lin ang="10800000" scaled="0"/>
              </a:gra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47" name="图形">
                <a:extLst>
                  <a:ext uri="{FF2B5EF4-FFF2-40B4-BE49-F238E27FC236}">
                    <a16:creationId xmlns:a16="http://schemas.microsoft.com/office/drawing/2014/main" id="{3CC33B3E-3BE6-D1EB-5A75-FD6C4D2F9148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120" y="8225"/>
                <a:ext cx="2583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专业：软件工程</a:t>
                </a:r>
              </a:p>
            </p:txBody>
          </p:sp>
          <p:pic>
            <p:nvPicPr>
              <p:cNvPr id="48" name="图形" descr="303b32313533373635313bbbe3b1a8d5df">
                <a:extLst>
                  <a:ext uri="{FF2B5EF4-FFF2-40B4-BE49-F238E27FC236}">
                    <a16:creationId xmlns:a16="http://schemas.microsoft.com/office/drawing/2014/main" id="{59B038D2-7D25-5D96-8BB1-0E68D561409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380" y="8287"/>
                <a:ext cx="445" cy="444"/>
              </a:xfrm>
              <a:prstGeom prst="rect">
                <a:avLst/>
              </a:prstGeom>
            </p:spPr>
          </p:pic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642CB5A-5D9B-B4D4-1A22-68CBEACA3D84}"/>
                </a:ext>
              </a:extLst>
            </p:cNvPr>
            <p:cNvGrpSpPr/>
            <p:nvPr/>
          </p:nvGrpSpPr>
          <p:grpSpPr>
            <a:xfrm>
              <a:off x="5050" y="7892"/>
              <a:ext cx="4455" cy="702"/>
              <a:chOff x="7188" y="8158"/>
              <a:chExt cx="4455" cy="702"/>
            </a:xfrm>
          </p:grpSpPr>
          <p:sp>
            <p:nvSpPr>
              <p:cNvPr id="41" name="图形">
                <a:extLst>
                  <a:ext uri="{FF2B5EF4-FFF2-40B4-BE49-F238E27FC236}">
                    <a16:creationId xmlns:a16="http://schemas.microsoft.com/office/drawing/2014/main" id="{59DB3E9A-F34E-2484-18CB-0F35F08E281F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7482" y="8158"/>
                <a:ext cx="4102" cy="70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42" name="图形">
                <a:extLst>
                  <a:ext uri="{FF2B5EF4-FFF2-40B4-BE49-F238E27FC236}">
                    <a16:creationId xmlns:a16="http://schemas.microsoft.com/office/drawing/2014/main" id="{61DE9BA9-CB18-574A-EB6F-946976E377C8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7188" y="8158"/>
                <a:ext cx="974" cy="7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78000">
                    <a:srgbClr val="FB9282">
                      <a:alpha val="100000"/>
                    </a:srgb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ln w="0" cap="flat" cmpd="sng" algn="ctr">
                <a:noFill/>
                <a:prstDash val="solid"/>
                <a:miter lim="800000"/>
              </a:ln>
              <a:effectLst>
                <a:outerShdw blurRad="3556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43" name="图形">
                <a:extLst>
                  <a:ext uri="{FF2B5EF4-FFF2-40B4-BE49-F238E27FC236}">
                    <a16:creationId xmlns:a16="http://schemas.microsoft.com/office/drawing/2014/main" id="{BE6099B6-9FC4-7816-B863-68A73F670062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73" y="8287"/>
                <a:ext cx="462" cy="392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2000" dirty="0">
                  <a:solidFill>
                    <a:srgbClr val="8CC345"/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  <p:sp>
            <p:nvSpPr>
              <p:cNvPr id="44" name="图形">
                <a:extLst>
                  <a:ext uri="{FF2B5EF4-FFF2-40B4-BE49-F238E27FC236}">
                    <a16:creationId xmlns:a16="http://schemas.microsoft.com/office/drawing/2014/main" id="{35EBB9F4-4D57-3265-79A8-049B1503380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103" y="8257"/>
                <a:ext cx="3540" cy="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学号</a:t>
                </a:r>
                <a:r>
                  <a:rPr lang="zh-CN" altLang="en-US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effectLst/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：</a:t>
                </a:r>
                <a:r>
                  <a:rPr lang="en-US" altLang="zh-CN" sz="16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/>
                    <a:ea typeface="微软雅黑"/>
                    <a:cs typeface="思源黑体旧字形 Light" panose="020B0300000000000000" charset="-128"/>
                    <a:sym typeface="Arial"/>
                  </a:rPr>
                  <a:t>202110804090</a:t>
                </a:r>
                <a:endPara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Arial"/>
                  <a:ea typeface="微软雅黑"/>
                  <a:cs typeface="思源黑体旧字形 Light" panose="020B0300000000000000" charset="-128"/>
                  <a:sym typeface="Arial"/>
                </a:endParaRPr>
              </a:p>
            </p:txBody>
          </p:sp>
        </p:grp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6129A419-BDE4-7232-A717-F8DD116C9C8E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" y="36403"/>
            <a:ext cx="2376194" cy="7329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/>
          <p:cNvPicPr>
            <a:picLocks noChangeAspect="1"/>
          </p:cNvPicPr>
          <p:nvPr/>
        </p:nvPicPr>
        <p:blipFill>
          <a:blip r:embed="rId49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0D1B16C-FFD9-BB46-8AAA-7D4393DE76B3}"/>
              </a:ext>
            </a:extLst>
          </p:cNvPr>
          <p:cNvGrpSpPr/>
          <p:nvPr/>
        </p:nvGrpSpPr>
        <p:grpSpPr>
          <a:xfrm>
            <a:off x="298692" y="1286496"/>
            <a:ext cx="11006428" cy="3248374"/>
            <a:chOff x="124121" y="1660724"/>
            <a:chExt cx="11006428" cy="3248374"/>
          </a:xfrm>
        </p:grpSpPr>
        <p:grpSp>
          <p:nvGrpSpPr>
            <p:cNvPr id="90" name="组合 89"/>
            <p:cNvGrpSpPr/>
            <p:nvPr>
              <p:custDataLst>
                <p:tags r:id="rId8"/>
              </p:custDataLst>
            </p:nvPr>
          </p:nvGrpSpPr>
          <p:grpSpPr>
            <a:xfrm>
              <a:off x="124121" y="1660724"/>
              <a:ext cx="2517769" cy="3248374"/>
              <a:chOff x="525336" y="2386391"/>
              <a:chExt cx="2625910" cy="3387489"/>
            </a:xfrm>
          </p:grpSpPr>
          <p:sp>
            <p:nvSpPr>
              <p:cNvPr id="93" name="任意多边形: 形状 9"/>
              <p:cNvSpPr/>
              <p:nvPr>
                <p:custDataLst>
                  <p:tags r:id="rId44"/>
                </p:custDataLst>
              </p:nvPr>
            </p:nvSpPr>
            <p:spPr>
              <a:xfrm>
                <a:off x="695325" y="2545802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98425">
                <a:noFill/>
              </a:ln>
              <a:effectLst>
                <a:outerShdw blurRad="330200" dist="38100" dir="5400000" algn="t" rotWithShape="0">
                  <a:schemeClr val="accent1">
                    <a:alpha val="19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4" name="任意多边形: 形状 10"/>
              <p:cNvSpPr/>
              <p:nvPr>
                <p:custDataLst>
                  <p:tags r:id="rId45"/>
                </p:custDataLst>
              </p:nvPr>
            </p:nvSpPr>
            <p:spPr>
              <a:xfrm>
                <a:off x="695325" y="2545802"/>
                <a:ext cx="2422398" cy="3184016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FFEDEC"/>
                  </a:gs>
                </a:gsLst>
                <a:lin ang="5400000" scaled="1"/>
                <a:tileRect/>
              </a:gradFill>
              <a:ln w="984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1" name="任意多边形: 形状 7"/>
              <p:cNvSpPr/>
              <p:nvPr>
                <p:custDataLst>
                  <p:tags r:id="rId46"/>
                </p:custDataLst>
              </p:nvPr>
            </p:nvSpPr>
            <p:spPr>
              <a:xfrm>
                <a:off x="593569" y="2457190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19000"/>
                      </a:schemeClr>
                    </a:gs>
                    <a:gs pos="55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92" name="任意多边形: 形状 8"/>
              <p:cNvSpPr/>
              <p:nvPr>
                <p:custDataLst>
                  <p:tags r:id="rId47"/>
                </p:custDataLst>
              </p:nvPr>
            </p:nvSpPr>
            <p:spPr>
              <a:xfrm>
                <a:off x="525336" y="2386391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37000"/>
                      </a:schemeClr>
                    </a:gs>
                    <a:gs pos="86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9"/>
              </p:custDataLst>
            </p:nvPr>
          </p:nvSpPr>
          <p:spPr>
            <a:xfrm>
              <a:off x="395265" y="2289319"/>
              <a:ext cx="1871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PART.</a:t>
              </a: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01</a:t>
              </a:r>
            </a:p>
          </p:txBody>
        </p:sp>
        <p:sp>
          <p:nvSpPr>
            <p:cNvPr id="96" name="文本框 95"/>
            <p:cNvSpPr txBox="1"/>
            <p:nvPr>
              <p:custDataLst>
                <p:tags r:id="rId10"/>
              </p:custDataLst>
            </p:nvPr>
          </p:nvSpPr>
          <p:spPr>
            <a:xfrm>
              <a:off x="405426" y="3030933"/>
              <a:ext cx="1976751" cy="338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Arial"/>
                </a:rPr>
                <a:t>课题</a:t>
              </a:r>
              <a:r>
                <a:rPr kumimoji="0" lang="zh-CN" altLang="en-US" sz="1600" b="1" i="0" u="none" strike="noStrike" kern="1200" cap="none" spc="30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背景及意义</a:t>
              </a:r>
            </a:p>
          </p:txBody>
        </p:sp>
        <p:sp>
          <p:nvSpPr>
            <p:cNvPr id="97" name="文本框 96"/>
            <p:cNvSpPr txBox="1"/>
            <p:nvPr>
              <p:custDataLst>
                <p:tags r:id="rId11"/>
              </p:custDataLst>
            </p:nvPr>
          </p:nvSpPr>
          <p:spPr>
            <a:xfrm>
              <a:off x="411140" y="3651274"/>
              <a:ext cx="2068190" cy="2768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PingFang SC"/>
                </a:rPr>
                <a:t>background and significance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endParaRPr>
            </a:p>
          </p:txBody>
        </p:sp>
        <p:cxnSp>
          <p:nvCxnSpPr>
            <p:cNvPr id="98" name="直接连接符 97"/>
            <p:cNvCxnSpPr/>
            <p:nvPr>
              <p:custDataLst>
                <p:tags r:id="rId12"/>
              </p:custDataLst>
            </p:nvPr>
          </p:nvCxnSpPr>
          <p:spPr>
            <a:xfrm>
              <a:off x="510200" y="2864578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100000">
                    <a:schemeClr val="accent1">
                      <a:alpha val="34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13"/>
              </p:custDataLst>
            </p:nvPr>
          </p:nvCxnSpPr>
          <p:spPr>
            <a:xfrm>
              <a:off x="510200" y="2214395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>
                      <a:alpha val="3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99"/>
            <p:cNvGrpSpPr/>
            <p:nvPr>
              <p:custDataLst>
                <p:tags r:id="rId14"/>
              </p:custDataLst>
            </p:nvPr>
          </p:nvGrpSpPr>
          <p:grpSpPr>
            <a:xfrm>
              <a:off x="2953674" y="1660724"/>
              <a:ext cx="2517769" cy="3248374"/>
              <a:chOff x="525336" y="2386391"/>
              <a:chExt cx="2625910" cy="3387489"/>
            </a:xfrm>
          </p:grpSpPr>
          <p:sp>
            <p:nvSpPr>
              <p:cNvPr id="103" name="任意多边形: 形状 27"/>
              <p:cNvSpPr/>
              <p:nvPr>
                <p:custDataLst>
                  <p:tags r:id="rId40"/>
                </p:custDataLst>
              </p:nvPr>
            </p:nvSpPr>
            <p:spPr>
              <a:xfrm>
                <a:off x="695325" y="2545802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ln w="98425">
                <a:noFill/>
              </a:ln>
              <a:effectLst>
                <a:outerShdw blurRad="330200" dist="38100" dir="5400000" algn="t" rotWithShape="0">
                  <a:schemeClr val="accent2">
                    <a:alpha val="19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4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5325" y="2545802"/>
                <a:ext cx="2422398" cy="3184016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F0FAFB"/>
                  </a:gs>
                </a:gsLst>
                <a:lin ang="5400000" scaled="1"/>
                <a:tileRect/>
              </a:gradFill>
              <a:ln w="984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1" name="任意多边形: 形状 25"/>
              <p:cNvSpPr/>
              <p:nvPr>
                <p:custDataLst>
                  <p:tags r:id="rId42"/>
                </p:custDataLst>
              </p:nvPr>
            </p:nvSpPr>
            <p:spPr>
              <a:xfrm>
                <a:off x="593569" y="2457190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19000"/>
                      </a:schemeClr>
                    </a:gs>
                    <a:gs pos="55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02" name="任意多边形: 形状 26"/>
              <p:cNvSpPr/>
              <p:nvPr>
                <p:custDataLst>
                  <p:tags r:id="rId43"/>
                </p:custDataLst>
              </p:nvPr>
            </p:nvSpPr>
            <p:spPr>
              <a:xfrm>
                <a:off x="525336" y="2386391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37000"/>
                      </a:schemeClr>
                    </a:gs>
                    <a:gs pos="86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105" name="文本框 104"/>
            <p:cNvSpPr txBox="1"/>
            <p:nvPr>
              <p:custDataLst>
                <p:tags r:id="rId15"/>
              </p:custDataLst>
            </p:nvPr>
          </p:nvSpPr>
          <p:spPr>
            <a:xfrm>
              <a:off x="3224818" y="2289319"/>
              <a:ext cx="1871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PART.</a:t>
              </a: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02</a:t>
              </a:r>
            </a:p>
          </p:txBody>
        </p:sp>
        <p:sp>
          <p:nvSpPr>
            <p:cNvPr id="106" name="文本框 105"/>
            <p:cNvSpPr txBox="1"/>
            <p:nvPr>
              <p:custDataLst>
                <p:tags r:id="rId16"/>
              </p:custDataLst>
            </p:nvPr>
          </p:nvSpPr>
          <p:spPr>
            <a:xfrm>
              <a:off x="3234978" y="3030933"/>
              <a:ext cx="2068190" cy="338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3000" b="1" i="0" u="none" strike="noStrike" cap="none" spc="30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sz="1600" dirty="0">
                  <a:sym typeface="Arial"/>
                </a:rPr>
                <a:t>功能结构图</a:t>
              </a:r>
            </a:p>
          </p:txBody>
        </p:sp>
        <p:sp>
          <p:nvSpPr>
            <p:cNvPr id="107" name="文本框 106"/>
            <p:cNvSpPr txBox="1"/>
            <p:nvPr>
              <p:custDataLst>
                <p:tags r:id="rId17"/>
              </p:custDataLst>
            </p:nvPr>
          </p:nvSpPr>
          <p:spPr>
            <a:xfrm>
              <a:off x="3240693" y="3651274"/>
              <a:ext cx="2068190" cy="2768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PingFang SC"/>
                </a:rPr>
                <a:t>Functional Structure Diagram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endParaRPr>
            </a:p>
          </p:txBody>
        </p:sp>
        <p:cxnSp>
          <p:nvCxnSpPr>
            <p:cNvPr id="108" name="直接连接符 107"/>
            <p:cNvCxnSpPr/>
            <p:nvPr>
              <p:custDataLst>
                <p:tags r:id="rId18"/>
              </p:custDataLst>
            </p:nvPr>
          </p:nvCxnSpPr>
          <p:spPr>
            <a:xfrm>
              <a:off x="3339753" y="2864578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100000">
                    <a:schemeClr val="accent2">
                      <a:alpha val="34000"/>
                    </a:schemeClr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>
              <p:custDataLst>
                <p:tags r:id="rId19"/>
              </p:custDataLst>
            </p:nvPr>
          </p:nvCxnSpPr>
          <p:spPr>
            <a:xfrm>
              <a:off x="3339753" y="2214395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2">
                      <a:alpha val="34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组合 109"/>
            <p:cNvGrpSpPr/>
            <p:nvPr>
              <p:custDataLst>
                <p:tags r:id="rId20"/>
              </p:custDataLst>
            </p:nvPr>
          </p:nvGrpSpPr>
          <p:grpSpPr>
            <a:xfrm>
              <a:off x="5783227" y="1660724"/>
              <a:ext cx="2517769" cy="3248374"/>
              <a:chOff x="525336" y="2386391"/>
              <a:chExt cx="2625910" cy="3387489"/>
            </a:xfrm>
          </p:grpSpPr>
          <p:sp>
            <p:nvSpPr>
              <p:cNvPr id="113" name="任意多边形: 形状 37"/>
              <p:cNvSpPr/>
              <p:nvPr>
                <p:custDataLst>
                  <p:tags r:id="rId36"/>
                </p:custDataLst>
              </p:nvPr>
            </p:nvSpPr>
            <p:spPr>
              <a:xfrm>
                <a:off x="695325" y="2545802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2700000" scaled="1"/>
                <a:tileRect/>
              </a:gradFill>
              <a:ln w="98425">
                <a:noFill/>
              </a:ln>
              <a:effectLst>
                <a:outerShdw blurRad="330200" dist="38100" dir="5400000" algn="t" rotWithShape="0">
                  <a:schemeClr val="accent1">
                    <a:alpha val="19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4" name="任意多边形: 形状 38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5325" y="2545802"/>
                <a:ext cx="2422398" cy="3184016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FFEDEC"/>
                  </a:gs>
                </a:gsLst>
                <a:lin ang="5400000" scaled="1"/>
                <a:tileRect/>
              </a:gradFill>
              <a:ln w="984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1" name="任意多边形: 形状 35"/>
              <p:cNvSpPr/>
              <p:nvPr>
                <p:custDataLst>
                  <p:tags r:id="rId38"/>
                </p:custDataLst>
              </p:nvPr>
            </p:nvSpPr>
            <p:spPr>
              <a:xfrm>
                <a:off x="593569" y="2457190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19000"/>
                      </a:schemeClr>
                    </a:gs>
                    <a:gs pos="55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12" name="任意多边形: 形状 36"/>
              <p:cNvSpPr/>
              <p:nvPr>
                <p:custDataLst>
                  <p:tags r:id="rId39"/>
                </p:custDataLst>
              </p:nvPr>
            </p:nvSpPr>
            <p:spPr>
              <a:xfrm>
                <a:off x="525336" y="2386391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37000"/>
                      </a:schemeClr>
                    </a:gs>
                    <a:gs pos="86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115" name="文本框 114"/>
            <p:cNvSpPr txBox="1"/>
            <p:nvPr>
              <p:custDataLst>
                <p:tags r:id="rId21"/>
              </p:custDataLst>
            </p:nvPr>
          </p:nvSpPr>
          <p:spPr>
            <a:xfrm>
              <a:off x="6054371" y="2289319"/>
              <a:ext cx="1871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PART.</a:t>
              </a:r>
              <a:r>
                <a:rPr kumimoji="0" lang="en-US" altLang="zh-CN" b="0" i="0" u="none" strike="noStrike" kern="1200" cap="none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03</a:t>
              </a:r>
            </a:p>
          </p:txBody>
        </p:sp>
        <p:sp>
          <p:nvSpPr>
            <p:cNvPr id="116" name="文本框 115"/>
            <p:cNvSpPr txBox="1"/>
            <p:nvPr>
              <p:custDataLst>
                <p:tags r:id="rId22"/>
              </p:custDataLst>
            </p:nvPr>
          </p:nvSpPr>
          <p:spPr>
            <a:xfrm>
              <a:off x="6064531" y="3030933"/>
              <a:ext cx="2068190" cy="338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3000" b="1" i="0" u="none" strike="noStrike" cap="none" spc="30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sz="1600" dirty="0">
                  <a:sym typeface="Arial"/>
                </a:rPr>
                <a:t>拟采用技术栈</a:t>
              </a:r>
            </a:p>
          </p:txBody>
        </p:sp>
        <p:sp>
          <p:nvSpPr>
            <p:cNvPr id="117" name="文本框 116"/>
            <p:cNvSpPr txBox="1"/>
            <p:nvPr>
              <p:custDataLst>
                <p:tags r:id="rId23"/>
              </p:custDataLst>
            </p:nvPr>
          </p:nvSpPr>
          <p:spPr>
            <a:xfrm>
              <a:off x="6070246" y="3651274"/>
              <a:ext cx="2068190" cy="2768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PingFang SC"/>
                </a:rPr>
                <a:t>technology stack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endParaRPr>
            </a:p>
          </p:txBody>
        </p:sp>
        <p:cxnSp>
          <p:nvCxnSpPr>
            <p:cNvPr id="118" name="直接连接符 117"/>
            <p:cNvCxnSpPr/>
            <p:nvPr>
              <p:custDataLst>
                <p:tags r:id="rId24"/>
              </p:custDataLst>
            </p:nvPr>
          </p:nvCxnSpPr>
          <p:spPr>
            <a:xfrm>
              <a:off x="6169306" y="2864578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100000">
                    <a:schemeClr val="accent1">
                      <a:alpha val="34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25"/>
              </p:custDataLst>
            </p:nvPr>
          </p:nvCxnSpPr>
          <p:spPr>
            <a:xfrm>
              <a:off x="6169306" y="2214395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1">
                      <a:alpha val="34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组合 119"/>
            <p:cNvGrpSpPr/>
            <p:nvPr>
              <p:custDataLst>
                <p:tags r:id="rId26"/>
              </p:custDataLst>
            </p:nvPr>
          </p:nvGrpSpPr>
          <p:grpSpPr>
            <a:xfrm>
              <a:off x="8612780" y="1660724"/>
              <a:ext cx="2517769" cy="3248374"/>
              <a:chOff x="525336" y="2386391"/>
              <a:chExt cx="2625910" cy="3387489"/>
            </a:xfrm>
          </p:grpSpPr>
          <p:sp>
            <p:nvSpPr>
              <p:cNvPr id="123" name="任意多边形: 形状 47"/>
              <p:cNvSpPr/>
              <p:nvPr>
                <p:custDataLst>
                  <p:tags r:id="rId32"/>
                </p:custDataLst>
              </p:nvPr>
            </p:nvSpPr>
            <p:spPr>
              <a:xfrm>
                <a:off x="695325" y="2545802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ln w="98425">
                <a:noFill/>
              </a:ln>
              <a:effectLst>
                <a:outerShdw blurRad="330200" dist="38100" dir="5400000" algn="t" rotWithShape="0">
                  <a:schemeClr val="accent2">
                    <a:alpha val="19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4" name="任意多边形: 形状 48"/>
              <p:cNvSpPr/>
              <p:nvPr>
                <p:custDataLst>
                  <p:tags r:id="rId33"/>
                </p:custDataLst>
              </p:nvPr>
            </p:nvSpPr>
            <p:spPr>
              <a:xfrm>
                <a:off x="695325" y="2545802"/>
                <a:ext cx="2422398" cy="3184016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F0FAFB"/>
                  </a:gs>
                </a:gsLst>
                <a:lin ang="5400000" scaled="1"/>
                <a:tileRect/>
              </a:gradFill>
              <a:ln w="98425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1" name="任意多边形: 形状 45"/>
              <p:cNvSpPr/>
              <p:nvPr>
                <p:custDataLst>
                  <p:tags r:id="rId34"/>
                </p:custDataLst>
              </p:nvPr>
            </p:nvSpPr>
            <p:spPr>
              <a:xfrm>
                <a:off x="593569" y="2457190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19000"/>
                      </a:schemeClr>
                    </a:gs>
                    <a:gs pos="55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22" name="任意多边形: 形状 46"/>
              <p:cNvSpPr/>
              <p:nvPr>
                <p:custDataLst>
                  <p:tags r:id="rId35"/>
                </p:custDataLst>
              </p:nvPr>
            </p:nvSpPr>
            <p:spPr>
              <a:xfrm>
                <a:off x="525336" y="2386391"/>
                <a:ext cx="2455921" cy="3228078"/>
              </a:xfrm>
              <a:custGeom>
                <a:avLst/>
                <a:gdLst>
                  <a:gd name="connsiteX0" fmla="*/ 149099 w 2422398"/>
                  <a:gd name="connsiteY0" fmla="*/ 0 h 3184016"/>
                  <a:gd name="connsiteX1" fmla="*/ 956557 w 2422398"/>
                  <a:gd name="connsiteY1" fmla="*/ 0 h 3184016"/>
                  <a:gd name="connsiteX2" fmla="*/ 2273299 w 2422398"/>
                  <a:gd name="connsiteY2" fmla="*/ 0 h 3184016"/>
                  <a:gd name="connsiteX3" fmla="*/ 2422398 w 2422398"/>
                  <a:gd name="connsiteY3" fmla="*/ 149099 h 3184016"/>
                  <a:gd name="connsiteX4" fmla="*/ 2422398 w 2422398"/>
                  <a:gd name="connsiteY4" fmla="*/ 1042700 h 3184016"/>
                  <a:gd name="connsiteX5" fmla="*/ 2422398 w 2422398"/>
                  <a:gd name="connsiteY5" fmla="*/ 2227459 h 3184016"/>
                  <a:gd name="connsiteX6" fmla="*/ 1465841 w 2422398"/>
                  <a:gd name="connsiteY6" fmla="*/ 3184016 h 3184016"/>
                  <a:gd name="connsiteX7" fmla="*/ 149099 w 2422398"/>
                  <a:gd name="connsiteY7" fmla="*/ 3184016 h 3184016"/>
                  <a:gd name="connsiteX8" fmla="*/ 0 w 2422398"/>
                  <a:gd name="connsiteY8" fmla="*/ 3034917 h 3184016"/>
                  <a:gd name="connsiteX9" fmla="*/ 0 w 2422398"/>
                  <a:gd name="connsiteY9" fmla="*/ 1042700 h 3184016"/>
                  <a:gd name="connsiteX10" fmla="*/ 0 w 2422398"/>
                  <a:gd name="connsiteY10" fmla="*/ 956557 h 3184016"/>
                  <a:gd name="connsiteX11" fmla="*/ 0 w 2422398"/>
                  <a:gd name="connsiteY11" fmla="*/ 149099 h 3184016"/>
                  <a:gd name="connsiteX12" fmla="*/ 149099 w 2422398"/>
                  <a:gd name="connsiteY12" fmla="*/ 0 h 3184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22398" h="3184016">
                    <a:moveTo>
                      <a:pt x="149099" y="0"/>
                    </a:moveTo>
                    <a:lnTo>
                      <a:pt x="956557" y="0"/>
                    </a:lnTo>
                    <a:lnTo>
                      <a:pt x="2273299" y="0"/>
                    </a:lnTo>
                    <a:cubicBezTo>
                      <a:pt x="2355644" y="0"/>
                      <a:pt x="2422398" y="66754"/>
                      <a:pt x="2422398" y="149099"/>
                    </a:cubicBezTo>
                    <a:lnTo>
                      <a:pt x="2422398" y="1042700"/>
                    </a:lnTo>
                    <a:lnTo>
                      <a:pt x="2422398" y="2227459"/>
                    </a:lnTo>
                    <a:cubicBezTo>
                      <a:pt x="2422398" y="2755751"/>
                      <a:pt x="1994133" y="3184016"/>
                      <a:pt x="1465841" y="3184016"/>
                    </a:cubicBezTo>
                    <a:lnTo>
                      <a:pt x="149099" y="3184016"/>
                    </a:lnTo>
                    <a:cubicBezTo>
                      <a:pt x="66754" y="3184016"/>
                      <a:pt x="0" y="3117262"/>
                      <a:pt x="0" y="3034917"/>
                    </a:cubicBezTo>
                    <a:lnTo>
                      <a:pt x="0" y="1042700"/>
                    </a:lnTo>
                    <a:lnTo>
                      <a:pt x="0" y="956557"/>
                    </a:lnTo>
                    <a:lnTo>
                      <a:pt x="0" y="149099"/>
                    </a:lnTo>
                    <a:cubicBezTo>
                      <a:pt x="0" y="66754"/>
                      <a:pt x="66754" y="0"/>
                      <a:pt x="149099" y="0"/>
                    </a:cubicBezTo>
                    <a:close/>
                  </a:path>
                </a:pathLst>
              </a:custGeom>
              <a:noFill/>
              <a:ln w="6350">
                <a:gradFill flip="none" rotWithShape="1">
                  <a:gsLst>
                    <a:gs pos="0">
                      <a:schemeClr val="accent1">
                        <a:alpha val="37000"/>
                      </a:schemeClr>
                    </a:gs>
                    <a:gs pos="86000">
                      <a:schemeClr val="accent1">
                        <a:alpha val="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330200" dist="38100" dir="5400000" algn="t" rotWithShape="0">
                  <a:srgbClr val="1387F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125" name="文本框 124"/>
            <p:cNvSpPr txBox="1"/>
            <p:nvPr>
              <p:custDataLst>
                <p:tags r:id="rId27"/>
              </p:custDataLst>
            </p:nvPr>
          </p:nvSpPr>
          <p:spPr>
            <a:xfrm>
              <a:off x="8883925" y="2289319"/>
              <a:ext cx="18719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PART.</a:t>
              </a:r>
              <a:r>
                <a:rPr kumimoji="0" lang="en-US" altLang="zh-CN" sz="2000" b="0" i="0" u="none" strike="noStrike" kern="1200" cap="none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微软雅黑"/>
                  <a:sym typeface="Arial"/>
                </a:rPr>
                <a:t>04</a:t>
              </a:r>
            </a:p>
          </p:txBody>
        </p:sp>
        <p:sp>
          <p:nvSpPr>
            <p:cNvPr id="126" name="文本框 125"/>
            <p:cNvSpPr txBox="1"/>
            <p:nvPr>
              <p:custDataLst>
                <p:tags r:id="rId28"/>
              </p:custDataLst>
            </p:nvPr>
          </p:nvSpPr>
          <p:spPr>
            <a:xfrm>
              <a:off x="8894084" y="3030933"/>
              <a:ext cx="206819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3000" b="1" i="0" u="none" strike="noStrike" cap="none" spc="30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sz="1600" dirty="0">
                  <a:sym typeface="Arial"/>
                </a:rPr>
                <a:t>进度计划</a:t>
              </a:r>
            </a:p>
          </p:txBody>
        </p:sp>
        <p:sp>
          <p:nvSpPr>
            <p:cNvPr id="127" name="文本框 126"/>
            <p:cNvSpPr txBox="1"/>
            <p:nvPr>
              <p:custDataLst>
                <p:tags r:id="rId29"/>
              </p:custDataLst>
            </p:nvPr>
          </p:nvSpPr>
          <p:spPr>
            <a:xfrm>
              <a:off x="8899164" y="3651274"/>
              <a:ext cx="2068190" cy="2768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PingFang SC"/>
                </a:rPr>
                <a:t>schedule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30"/>
              </p:custDataLst>
            </p:nvPr>
          </p:nvCxnSpPr>
          <p:spPr>
            <a:xfrm>
              <a:off x="8998224" y="2864578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100000">
                    <a:schemeClr val="accent2">
                      <a:alpha val="34000"/>
                    </a:schemeClr>
                  </a:gs>
                  <a:gs pos="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31"/>
              </p:custDataLst>
            </p:nvPr>
          </p:nvCxnSpPr>
          <p:spPr>
            <a:xfrm>
              <a:off x="8998224" y="2214395"/>
              <a:ext cx="1871975" cy="0"/>
            </a:xfrm>
            <a:prstGeom prst="line">
              <a:avLst/>
            </a:prstGeom>
            <a:ln w="12700" cap="rnd">
              <a:gradFill flip="none" rotWithShape="1">
                <a:gsLst>
                  <a:gs pos="0">
                    <a:schemeClr val="accent2">
                      <a:alpha val="34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图形"/>
          <p:cNvSpPr/>
          <p:nvPr>
            <p:custDataLst>
              <p:tags r:id="rId2"/>
            </p:custDataLst>
          </p:nvPr>
        </p:nvSpPr>
        <p:spPr>
          <a:xfrm>
            <a:off x="806450" y="4287520"/>
            <a:ext cx="961391" cy="3251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82000">
                <a:srgbClr val="FCA092">
                  <a:alpha val="100000"/>
                </a:srgbClr>
              </a:gs>
              <a:gs pos="0">
                <a:schemeClr val="accent1"/>
              </a:gs>
            </a:gsLst>
            <a:lin ang="10800000" scaled="0"/>
          </a:gradFill>
          <a:ln w="0" cap="flat" cmpd="sng" algn="ctr">
            <a:noFill/>
            <a:prstDash val="solid"/>
            <a:miter lim="800000"/>
          </a:ln>
          <a:effectLst>
            <a:outerShdw blurRad="355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思源黑体旧字形 Light" panose="020B0300000000000000" charset="-128"/>
                <a:sym typeface="Arial"/>
              </a:rPr>
              <a:t>ONE</a:t>
            </a:r>
          </a:p>
        </p:txBody>
      </p:sp>
      <p:sp>
        <p:nvSpPr>
          <p:cNvPr id="131" name="图形"/>
          <p:cNvSpPr/>
          <p:nvPr>
            <p:custDataLst>
              <p:tags r:id="rId3"/>
            </p:custDataLst>
          </p:nvPr>
        </p:nvSpPr>
        <p:spPr>
          <a:xfrm>
            <a:off x="3740786" y="4287520"/>
            <a:ext cx="961391" cy="325120"/>
          </a:xfrm>
          <a:prstGeom prst="roundRect">
            <a:avLst>
              <a:gd name="adj" fmla="val 50000"/>
            </a:avLst>
          </a:prstGeom>
          <a:gradFill>
            <a:gsLst>
              <a:gs pos="79000">
                <a:srgbClr val="8ED6E1">
                  <a:alpha val="10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 w="0" cap="flat" cmpd="sng" algn="ctr">
            <a:noFill/>
            <a:prstDash val="solid"/>
            <a:miter lim="800000"/>
          </a:ln>
          <a:effectLst>
            <a:outerShdw blurRad="355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思源黑体旧字形 Light" panose="020B0300000000000000" charset="-128"/>
                <a:sym typeface="Arial"/>
              </a:rPr>
              <a:t>TWO</a:t>
            </a:r>
          </a:p>
        </p:txBody>
      </p:sp>
      <p:sp>
        <p:nvSpPr>
          <p:cNvPr id="132" name="图形"/>
          <p:cNvSpPr/>
          <p:nvPr>
            <p:custDataLst>
              <p:tags r:id="rId4"/>
            </p:custDataLst>
          </p:nvPr>
        </p:nvSpPr>
        <p:spPr>
          <a:xfrm>
            <a:off x="6455409" y="4287520"/>
            <a:ext cx="971845" cy="3251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82000">
                <a:srgbClr val="FCA092">
                  <a:alpha val="100000"/>
                </a:srgbClr>
              </a:gs>
              <a:gs pos="0">
                <a:schemeClr val="accent1"/>
              </a:gs>
            </a:gsLst>
            <a:lin ang="10800000" scaled="0"/>
          </a:gradFill>
          <a:ln w="0" cap="flat" cmpd="sng" algn="ctr">
            <a:noFill/>
            <a:prstDash val="solid"/>
            <a:miter lim="800000"/>
          </a:ln>
          <a:effectLst>
            <a:outerShdw blurRad="355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思源黑体旧字形 Light" panose="020B0300000000000000" charset="-128"/>
                <a:sym typeface="Arial"/>
              </a:rPr>
              <a:t>THREE</a:t>
            </a:r>
          </a:p>
        </p:txBody>
      </p:sp>
      <p:sp>
        <p:nvSpPr>
          <p:cNvPr id="133" name="图形"/>
          <p:cNvSpPr/>
          <p:nvPr>
            <p:custDataLst>
              <p:tags r:id="rId5"/>
            </p:custDataLst>
          </p:nvPr>
        </p:nvSpPr>
        <p:spPr>
          <a:xfrm>
            <a:off x="9389746" y="4287520"/>
            <a:ext cx="961391" cy="325120"/>
          </a:xfrm>
          <a:prstGeom prst="roundRect">
            <a:avLst>
              <a:gd name="adj" fmla="val 50000"/>
            </a:avLst>
          </a:prstGeom>
          <a:gradFill>
            <a:gsLst>
              <a:gs pos="79000">
                <a:srgbClr val="8ED6E1">
                  <a:alpha val="100000"/>
                </a:srgbClr>
              </a:gs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0800000" scaled="0"/>
          </a:gradFill>
          <a:ln w="0" cap="flat" cmpd="sng" algn="ctr">
            <a:noFill/>
            <a:prstDash val="solid"/>
            <a:miter lim="800000"/>
          </a:ln>
          <a:effectLst>
            <a:outerShdw blurRad="3556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思源黑体旧字形 Light" panose="020B0300000000000000" charset="-128"/>
                <a:sym typeface="Arial"/>
              </a:rPr>
              <a:t>FOUR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385446" y="516891"/>
            <a:ext cx="3680460" cy="789179"/>
            <a:chOff x="369" y="1183"/>
            <a:chExt cx="6416" cy="1526"/>
          </a:xfrm>
        </p:grpSpPr>
        <p:sp>
          <p:nvSpPr>
            <p:cNvPr id="135" name="平行四边形 134"/>
            <p:cNvSpPr/>
            <p:nvPr>
              <p:custDataLst>
                <p:tags r:id="rId6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/>
            <p:cNvSpPr txBox="1"/>
            <p:nvPr>
              <p:custDataLst>
                <p:tags r:id="rId7"/>
              </p:custDataLst>
            </p:nvPr>
          </p:nvSpPr>
          <p:spPr>
            <a:xfrm>
              <a:off x="492" y="1183"/>
              <a:ext cx="5614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54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haroni" pitchFamily="2" charset="-79"/>
                  <a:ea typeface="微软雅黑"/>
                  <a:cs typeface="Aharoni" pitchFamily="2" charset="-79"/>
                  <a:sym typeface="Arial"/>
                </a:rPr>
                <a:t>CON</a:t>
              </a:r>
              <a:r>
                <a:rPr lang="en-US" altLang="zh-CN" sz="3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haroni" pitchFamily="2" charset="-79"/>
                  <a:ea typeface="微软雅黑"/>
                  <a:cs typeface="Aharoni" pitchFamily="2" charset="-79"/>
                  <a:sym typeface="Arial"/>
                </a:rPr>
                <a:t>TENTS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FF11A90E-4E60-197F-DCE6-A43776017FDA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6305"/>
          <p:cNvPicPr>
            <a:picLocks noChangeAspect="1"/>
          </p:cNvPicPr>
          <p:nvPr/>
        </p:nvPicPr>
        <p:blipFill>
          <a:blip r:embed="rId4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85495" y="1087120"/>
            <a:ext cx="3324860" cy="4185920"/>
            <a:chOff x="1237" y="1712"/>
            <a:chExt cx="5236" cy="6592"/>
          </a:xfrm>
        </p:grpSpPr>
        <p:sp>
          <p:nvSpPr>
            <p:cNvPr id="40" name="平行四边形 39"/>
            <p:cNvSpPr/>
            <p:nvPr/>
          </p:nvSpPr>
          <p:spPr>
            <a:xfrm>
              <a:off x="1237" y="6154"/>
              <a:ext cx="4174" cy="859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4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1257" y="1712"/>
              <a:ext cx="5216" cy="6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6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mpact" pitchFamily="34" charset="0"/>
                  <a:ea typeface="微软雅黑"/>
                  <a:sym typeface="Arial"/>
                </a:rPr>
                <a:t>0</a:t>
              </a:r>
              <a:r>
                <a:rPr lang="en-US" altLang="zh-CN" sz="26600" dirty="0">
                  <a:solidFill>
                    <a:schemeClr val="accent2"/>
                  </a:solidFill>
                  <a:latin typeface="Impact" pitchFamily="34" charset="0"/>
                  <a:ea typeface="微软雅黑"/>
                  <a:sym typeface="Arial"/>
                </a:rPr>
                <a:t>1</a:t>
              </a:r>
            </a:p>
          </p:txBody>
        </p:sp>
      </p:grpSp>
      <p:sp>
        <p:nvSpPr>
          <p:cNvPr id="539" name="文本框 538"/>
          <p:cNvSpPr txBox="1"/>
          <p:nvPr/>
        </p:nvSpPr>
        <p:spPr>
          <a:xfrm>
            <a:off x="981075" y="956312"/>
            <a:ext cx="1545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PART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4123055" y="2486854"/>
            <a:ext cx="6775451" cy="1200150"/>
            <a:chOff x="6730" y="2714"/>
            <a:chExt cx="10670" cy="1890"/>
          </a:xfrm>
        </p:grpSpPr>
        <p:sp>
          <p:nvSpPr>
            <p:cNvPr id="25" name="平行四边形 24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730" y="2714"/>
              <a:ext cx="10480" cy="18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课题背景意义</a:t>
              </a:r>
            </a:p>
          </p:txBody>
        </p:sp>
      </p:grpSp>
      <p:grpSp>
        <p:nvGrpSpPr>
          <p:cNvPr id="1070" name="组合 1069"/>
          <p:cNvGrpSpPr/>
          <p:nvPr/>
        </p:nvGrpSpPr>
        <p:grpSpPr>
          <a:xfrm>
            <a:off x="10283826" y="4453228"/>
            <a:ext cx="644349" cy="146060"/>
            <a:chOff x="4438457" y="299555"/>
            <a:chExt cx="1007449" cy="228367"/>
          </a:xfrm>
        </p:grpSpPr>
        <p:sp>
          <p:nvSpPr>
            <p:cNvPr id="1067" name="椭圆 1066"/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/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/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821114" y="542360"/>
            <a:ext cx="819111" cy="238954"/>
            <a:chOff x="1360474" y="6383009"/>
            <a:chExt cx="819110" cy="238954"/>
          </a:xfrm>
        </p:grpSpPr>
        <p:sp>
          <p:nvSpPr>
            <p:cNvPr id="58" name="任意多边形: 形状 4"/>
            <p:cNvSpPr/>
            <p:nvPr/>
          </p:nvSpPr>
          <p:spPr>
            <a:xfrm rot="18900000">
              <a:off x="1360474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9" name="任意多边形: 形状 15"/>
            <p:cNvSpPr/>
            <p:nvPr/>
          </p:nvSpPr>
          <p:spPr>
            <a:xfrm rot="18900000">
              <a:off x="1650552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16000">
                  <a:srgbClr val="FCA092"/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任意多边形: 形状 16"/>
            <p:cNvSpPr/>
            <p:nvPr/>
          </p:nvSpPr>
          <p:spPr>
            <a:xfrm rot="18900000">
              <a:off x="1940630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ipe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/>
      <p:bldP spid="53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693E-65B9-877E-8CD9-37F3F450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831F0B6B-3D48-05B4-D4A0-E7FCFCD5045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"/>
          </a:blip>
          <a:srcRect t="7813" b="7813"/>
          <a:stretch>
            <a:fillRect/>
          </a:stretch>
        </p:blipFill>
        <p:spPr>
          <a:xfrm>
            <a:off x="-14603" y="59215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97BC9351-E35B-1596-0566-D1C8B97B8416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1712FA3C-18C1-663A-B75F-532BA919123D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74A33318-5145-42C7-E538-CF0864421B94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48A7576-363F-418C-72FC-8554DB06AB4C}"/>
              </a:ext>
            </a:extLst>
          </p:cNvPr>
          <p:cNvGrpSpPr/>
          <p:nvPr/>
        </p:nvGrpSpPr>
        <p:grpSpPr>
          <a:xfrm>
            <a:off x="198044" y="192926"/>
            <a:ext cx="3680460" cy="789179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5F852AFF-BB59-F509-E2A4-C96F3D1D4BC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9AA155B4-9A64-F38F-6CEE-4A4D1C113C73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492" y="1183"/>
              <a:ext cx="5924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课题背景及意义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EA0B1623-CAA9-24B8-1802-EFD80F77F23F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DD053C0B-0E42-ED45-A2C9-356B997312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53454" y="1258415"/>
            <a:ext cx="1358025" cy="12884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E8B8AD9C-55C6-B05E-2BA0-103148555C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23147" y="1672862"/>
            <a:ext cx="438529" cy="415209"/>
          </a:xfrm>
          <a:custGeom>
            <a:avLst/>
            <a:gdLst>
              <a:gd name="T0" fmla="*/ 6597 w 6827"/>
              <a:gd name="T1" fmla="*/ 449 h 6827"/>
              <a:gd name="T2" fmla="*/ 6377 w 6827"/>
              <a:gd name="T3" fmla="*/ 449 h 6827"/>
              <a:gd name="T4" fmla="*/ 6377 w 6827"/>
              <a:gd name="T5" fmla="*/ 230 h 6827"/>
              <a:gd name="T6" fmla="*/ 6148 w 6827"/>
              <a:gd name="T7" fmla="*/ 0 h 6827"/>
              <a:gd name="T8" fmla="*/ 5918 w 6827"/>
              <a:gd name="T9" fmla="*/ 230 h 6827"/>
              <a:gd name="T10" fmla="*/ 5918 w 6827"/>
              <a:gd name="T11" fmla="*/ 584 h 6827"/>
              <a:gd name="T12" fmla="*/ 5877 w 6827"/>
              <a:gd name="T13" fmla="*/ 625 h 6827"/>
              <a:gd name="T14" fmla="*/ 5665 w 6827"/>
              <a:gd name="T15" fmla="*/ 483 h 6827"/>
              <a:gd name="T16" fmla="*/ 5435 w 6827"/>
              <a:gd name="T17" fmla="*/ 713 h 6827"/>
              <a:gd name="T18" fmla="*/ 5435 w 6827"/>
              <a:gd name="T19" fmla="*/ 1067 h 6827"/>
              <a:gd name="T20" fmla="*/ 5260 w 6827"/>
              <a:gd name="T21" fmla="*/ 1242 h 6827"/>
              <a:gd name="T22" fmla="*/ 3180 w 6827"/>
              <a:gd name="T23" fmla="*/ 466 h 6827"/>
              <a:gd name="T24" fmla="*/ 0 w 6827"/>
              <a:gd name="T25" fmla="*/ 3646 h 6827"/>
              <a:gd name="T26" fmla="*/ 970 w 6827"/>
              <a:gd name="T27" fmla="*/ 5931 h 6827"/>
              <a:gd name="T28" fmla="*/ 465 w 6827"/>
              <a:gd name="T29" fmla="*/ 6317 h 6827"/>
              <a:gd name="T30" fmla="*/ 422 w 6827"/>
              <a:gd name="T31" fmla="*/ 6639 h 6827"/>
              <a:gd name="T32" fmla="*/ 604 w 6827"/>
              <a:gd name="T33" fmla="*/ 6729 h 6827"/>
              <a:gd name="T34" fmla="*/ 744 w 6827"/>
              <a:gd name="T35" fmla="*/ 6682 h 6827"/>
              <a:gd name="T36" fmla="*/ 1332 w 6827"/>
              <a:gd name="T37" fmla="*/ 6233 h 6827"/>
              <a:gd name="T38" fmla="*/ 3180 w 6827"/>
              <a:gd name="T39" fmla="*/ 6827 h 6827"/>
              <a:gd name="T40" fmla="*/ 5029 w 6827"/>
              <a:gd name="T41" fmla="*/ 6233 h 6827"/>
              <a:gd name="T42" fmla="*/ 5617 w 6827"/>
              <a:gd name="T43" fmla="*/ 6682 h 6827"/>
              <a:gd name="T44" fmla="*/ 5756 w 6827"/>
              <a:gd name="T45" fmla="*/ 6729 h 6827"/>
              <a:gd name="T46" fmla="*/ 5939 w 6827"/>
              <a:gd name="T47" fmla="*/ 6639 h 6827"/>
              <a:gd name="T48" fmla="*/ 5896 w 6827"/>
              <a:gd name="T49" fmla="*/ 6317 h 6827"/>
              <a:gd name="T50" fmla="*/ 5390 w 6827"/>
              <a:gd name="T51" fmla="*/ 5931 h 6827"/>
              <a:gd name="T52" fmla="*/ 6361 w 6827"/>
              <a:gd name="T53" fmla="*/ 3646 h 6827"/>
              <a:gd name="T54" fmla="*/ 5585 w 6827"/>
              <a:gd name="T55" fmla="*/ 1567 h 6827"/>
              <a:gd name="T56" fmla="*/ 5760 w 6827"/>
              <a:gd name="T57" fmla="*/ 1391 h 6827"/>
              <a:gd name="T58" fmla="*/ 6114 w 6827"/>
              <a:gd name="T59" fmla="*/ 1391 h 6827"/>
              <a:gd name="T60" fmla="*/ 6344 w 6827"/>
              <a:gd name="T61" fmla="*/ 1162 h 6827"/>
              <a:gd name="T62" fmla="*/ 6202 w 6827"/>
              <a:gd name="T63" fmla="*/ 950 h 6827"/>
              <a:gd name="T64" fmla="*/ 6243 w 6827"/>
              <a:gd name="T65" fmla="*/ 908 h 6827"/>
              <a:gd name="T66" fmla="*/ 6597 w 6827"/>
              <a:gd name="T67" fmla="*/ 908 h 6827"/>
              <a:gd name="T68" fmla="*/ 6827 w 6827"/>
              <a:gd name="T69" fmla="*/ 679 h 6827"/>
              <a:gd name="T70" fmla="*/ 6597 w 6827"/>
              <a:gd name="T71" fmla="*/ 449 h 6827"/>
              <a:gd name="T72" fmla="*/ 5901 w 6827"/>
              <a:gd name="T73" fmla="*/ 3646 h 6827"/>
              <a:gd name="T74" fmla="*/ 3180 w 6827"/>
              <a:gd name="T75" fmla="*/ 6367 h 6827"/>
              <a:gd name="T76" fmla="*/ 459 w 6827"/>
              <a:gd name="T77" fmla="*/ 3646 h 6827"/>
              <a:gd name="T78" fmla="*/ 3180 w 6827"/>
              <a:gd name="T79" fmla="*/ 925 h 6827"/>
              <a:gd name="T80" fmla="*/ 4934 w 6827"/>
              <a:gd name="T81" fmla="*/ 1568 h 6827"/>
              <a:gd name="T82" fmla="*/ 4358 w 6827"/>
              <a:gd name="T83" fmla="*/ 2144 h 6827"/>
              <a:gd name="T84" fmla="*/ 3180 w 6827"/>
              <a:gd name="T85" fmla="*/ 1736 h 6827"/>
              <a:gd name="T86" fmla="*/ 1270 w 6827"/>
              <a:gd name="T87" fmla="*/ 3646 h 6827"/>
              <a:gd name="T88" fmla="*/ 3180 w 6827"/>
              <a:gd name="T89" fmla="*/ 5556 h 6827"/>
              <a:gd name="T90" fmla="*/ 5090 w 6827"/>
              <a:gd name="T91" fmla="*/ 3646 h 6827"/>
              <a:gd name="T92" fmla="*/ 4683 w 6827"/>
              <a:gd name="T93" fmla="*/ 2468 h 6827"/>
              <a:gd name="T94" fmla="*/ 5259 w 6827"/>
              <a:gd name="T95" fmla="*/ 1892 h 6827"/>
              <a:gd name="T96" fmla="*/ 5901 w 6827"/>
              <a:gd name="T97" fmla="*/ 3646 h 6827"/>
              <a:gd name="T98" fmla="*/ 3180 w 6827"/>
              <a:gd name="T99" fmla="*/ 4259 h 6827"/>
              <a:gd name="T100" fmla="*/ 3793 w 6827"/>
              <a:gd name="T101" fmla="*/ 3646 h 6827"/>
              <a:gd name="T102" fmla="*/ 3744 w 6827"/>
              <a:gd name="T103" fmla="*/ 3407 h 6827"/>
              <a:gd name="T104" fmla="*/ 4355 w 6827"/>
              <a:gd name="T105" fmla="*/ 2796 h 6827"/>
              <a:gd name="T106" fmla="*/ 4631 w 6827"/>
              <a:gd name="T107" fmla="*/ 3646 h 6827"/>
              <a:gd name="T108" fmla="*/ 3180 w 6827"/>
              <a:gd name="T109" fmla="*/ 5097 h 6827"/>
              <a:gd name="T110" fmla="*/ 1730 w 6827"/>
              <a:gd name="T111" fmla="*/ 3646 h 6827"/>
              <a:gd name="T112" fmla="*/ 3180 w 6827"/>
              <a:gd name="T113" fmla="*/ 2196 h 6827"/>
              <a:gd name="T114" fmla="*/ 4030 w 6827"/>
              <a:gd name="T115" fmla="*/ 2471 h 6827"/>
              <a:gd name="T116" fmla="*/ 3419 w 6827"/>
              <a:gd name="T117" fmla="*/ 3083 h 6827"/>
              <a:gd name="T118" fmla="*/ 3180 w 6827"/>
              <a:gd name="T119" fmla="*/ 3034 h 6827"/>
              <a:gd name="T120" fmla="*/ 2568 w 6827"/>
              <a:gd name="T121" fmla="*/ 3646 h 6827"/>
              <a:gd name="T122" fmla="*/ 3180 w 6827"/>
              <a:gd name="T123" fmla="*/ 4259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7" h="6827">
                <a:moveTo>
                  <a:pt x="6597" y="449"/>
                </a:moveTo>
                <a:lnTo>
                  <a:pt x="6377" y="449"/>
                </a:lnTo>
                <a:lnTo>
                  <a:pt x="6377" y="230"/>
                </a:lnTo>
                <a:cubicBezTo>
                  <a:pt x="6377" y="103"/>
                  <a:pt x="6275" y="0"/>
                  <a:pt x="6148" y="0"/>
                </a:cubicBezTo>
                <a:cubicBezTo>
                  <a:pt x="6021" y="0"/>
                  <a:pt x="5918" y="103"/>
                  <a:pt x="5918" y="230"/>
                </a:cubicBezTo>
                <a:lnTo>
                  <a:pt x="5918" y="584"/>
                </a:lnTo>
                <a:lnTo>
                  <a:pt x="5877" y="625"/>
                </a:lnTo>
                <a:cubicBezTo>
                  <a:pt x="5843" y="542"/>
                  <a:pt x="5761" y="483"/>
                  <a:pt x="5665" y="483"/>
                </a:cubicBezTo>
                <a:cubicBezTo>
                  <a:pt x="5538" y="483"/>
                  <a:pt x="5435" y="586"/>
                  <a:pt x="5435" y="713"/>
                </a:cubicBezTo>
                <a:lnTo>
                  <a:pt x="5435" y="1067"/>
                </a:lnTo>
                <a:lnTo>
                  <a:pt x="5260" y="1242"/>
                </a:lnTo>
                <a:cubicBezTo>
                  <a:pt x="4702" y="759"/>
                  <a:pt x="3975" y="466"/>
                  <a:pt x="3180" y="466"/>
                </a:cubicBezTo>
                <a:cubicBezTo>
                  <a:pt x="1427" y="466"/>
                  <a:pt x="0" y="1893"/>
                  <a:pt x="0" y="3646"/>
                </a:cubicBezTo>
                <a:cubicBezTo>
                  <a:pt x="0" y="4542"/>
                  <a:pt x="372" y="5352"/>
                  <a:pt x="970" y="5931"/>
                </a:cubicBezTo>
                <a:lnTo>
                  <a:pt x="465" y="6317"/>
                </a:lnTo>
                <a:cubicBezTo>
                  <a:pt x="364" y="6394"/>
                  <a:pt x="345" y="6538"/>
                  <a:pt x="422" y="6639"/>
                </a:cubicBezTo>
                <a:cubicBezTo>
                  <a:pt x="467" y="6698"/>
                  <a:pt x="535" y="6729"/>
                  <a:pt x="604" y="6729"/>
                </a:cubicBezTo>
                <a:cubicBezTo>
                  <a:pt x="653" y="6729"/>
                  <a:pt x="702" y="6714"/>
                  <a:pt x="744" y="6682"/>
                </a:cubicBezTo>
                <a:lnTo>
                  <a:pt x="1332" y="6233"/>
                </a:lnTo>
                <a:cubicBezTo>
                  <a:pt x="1853" y="6606"/>
                  <a:pt x="2491" y="6827"/>
                  <a:pt x="3180" y="6827"/>
                </a:cubicBezTo>
                <a:cubicBezTo>
                  <a:pt x="3869" y="6827"/>
                  <a:pt x="4508" y="6606"/>
                  <a:pt x="5029" y="6233"/>
                </a:cubicBezTo>
                <a:lnTo>
                  <a:pt x="5617" y="6682"/>
                </a:lnTo>
                <a:cubicBezTo>
                  <a:pt x="5659" y="6714"/>
                  <a:pt x="5708" y="6729"/>
                  <a:pt x="5756" y="6729"/>
                </a:cubicBezTo>
                <a:cubicBezTo>
                  <a:pt x="5825" y="6729"/>
                  <a:pt x="5894" y="6698"/>
                  <a:pt x="5939" y="6639"/>
                </a:cubicBezTo>
                <a:cubicBezTo>
                  <a:pt x="6016" y="6538"/>
                  <a:pt x="5997" y="6394"/>
                  <a:pt x="5896" y="6317"/>
                </a:cubicBezTo>
                <a:lnTo>
                  <a:pt x="5390" y="5931"/>
                </a:lnTo>
                <a:cubicBezTo>
                  <a:pt x="5988" y="5352"/>
                  <a:pt x="6361" y="4542"/>
                  <a:pt x="6361" y="3646"/>
                </a:cubicBezTo>
                <a:cubicBezTo>
                  <a:pt x="6361" y="2852"/>
                  <a:pt x="6068" y="2125"/>
                  <a:pt x="5585" y="1567"/>
                </a:cubicBezTo>
                <a:lnTo>
                  <a:pt x="5760" y="1391"/>
                </a:lnTo>
                <a:lnTo>
                  <a:pt x="6114" y="1391"/>
                </a:lnTo>
                <a:cubicBezTo>
                  <a:pt x="6241" y="1391"/>
                  <a:pt x="6344" y="1289"/>
                  <a:pt x="6344" y="1162"/>
                </a:cubicBezTo>
                <a:cubicBezTo>
                  <a:pt x="6344" y="1066"/>
                  <a:pt x="6285" y="984"/>
                  <a:pt x="6202" y="950"/>
                </a:cubicBezTo>
                <a:lnTo>
                  <a:pt x="6243" y="908"/>
                </a:lnTo>
                <a:lnTo>
                  <a:pt x="6597" y="908"/>
                </a:lnTo>
                <a:cubicBezTo>
                  <a:pt x="6724" y="908"/>
                  <a:pt x="6827" y="806"/>
                  <a:pt x="6827" y="679"/>
                </a:cubicBezTo>
                <a:cubicBezTo>
                  <a:pt x="6827" y="552"/>
                  <a:pt x="6724" y="449"/>
                  <a:pt x="6597" y="449"/>
                </a:cubicBezTo>
                <a:close/>
                <a:moveTo>
                  <a:pt x="5901" y="3646"/>
                </a:moveTo>
                <a:cubicBezTo>
                  <a:pt x="5901" y="5147"/>
                  <a:pt x="4681" y="6367"/>
                  <a:pt x="3180" y="6367"/>
                </a:cubicBezTo>
                <a:cubicBezTo>
                  <a:pt x="1680" y="6367"/>
                  <a:pt x="459" y="5147"/>
                  <a:pt x="459" y="3646"/>
                </a:cubicBezTo>
                <a:cubicBezTo>
                  <a:pt x="459" y="2146"/>
                  <a:pt x="1680" y="925"/>
                  <a:pt x="3180" y="925"/>
                </a:cubicBezTo>
                <a:cubicBezTo>
                  <a:pt x="3848" y="925"/>
                  <a:pt x="4460" y="1167"/>
                  <a:pt x="4934" y="1568"/>
                </a:cubicBezTo>
                <a:lnTo>
                  <a:pt x="4358" y="2144"/>
                </a:lnTo>
                <a:cubicBezTo>
                  <a:pt x="4033" y="1889"/>
                  <a:pt x="3624" y="1736"/>
                  <a:pt x="3180" y="1736"/>
                </a:cubicBezTo>
                <a:cubicBezTo>
                  <a:pt x="2127" y="1736"/>
                  <a:pt x="1270" y="2593"/>
                  <a:pt x="1270" y="3646"/>
                </a:cubicBezTo>
                <a:cubicBezTo>
                  <a:pt x="1270" y="4700"/>
                  <a:pt x="2127" y="5556"/>
                  <a:pt x="3180" y="5556"/>
                </a:cubicBezTo>
                <a:cubicBezTo>
                  <a:pt x="4234" y="5556"/>
                  <a:pt x="5090" y="4700"/>
                  <a:pt x="5090" y="3646"/>
                </a:cubicBezTo>
                <a:cubicBezTo>
                  <a:pt x="5090" y="3202"/>
                  <a:pt x="4938" y="2793"/>
                  <a:pt x="4683" y="2468"/>
                </a:cubicBezTo>
                <a:lnTo>
                  <a:pt x="5259" y="1892"/>
                </a:lnTo>
                <a:cubicBezTo>
                  <a:pt x="5659" y="2366"/>
                  <a:pt x="5901" y="2979"/>
                  <a:pt x="5901" y="3646"/>
                </a:cubicBezTo>
                <a:close/>
                <a:moveTo>
                  <a:pt x="3180" y="4259"/>
                </a:moveTo>
                <a:cubicBezTo>
                  <a:pt x="3518" y="4259"/>
                  <a:pt x="3793" y="3984"/>
                  <a:pt x="3793" y="3646"/>
                </a:cubicBezTo>
                <a:cubicBezTo>
                  <a:pt x="3793" y="3562"/>
                  <a:pt x="3775" y="3481"/>
                  <a:pt x="3744" y="3407"/>
                </a:cubicBezTo>
                <a:lnTo>
                  <a:pt x="4355" y="2796"/>
                </a:lnTo>
                <a:cubicBezTo>
                  <a:pt x="4529" y="3035"/>
                  <a:pt x="4631" y="3329"/>
                  <a:pt x="4631" y="3646"/>
                </a:cubicBezTo>
                <a:cubicBezTo>
                  <a:pt x="4631" y="4446"/>
                  <a:pt x="3980" y="5097"/>
                  <a:pt x="3180" y="5097"/>
                </a:cubicBezTo>
                <a:cubicBezTo>
                  <a:pt x="2380" y="5097"/>
                  <a:pt x="1730" y="4446"/>
                  <a:pt x="1730" y="3646"/>
                </a:cubicBezTo>
                <a:cubicBezTo>
                  <a:pt x="1730" y="2846"/>
                  <a:pt x="2380" y="2196"/>
                  <a:pt x="3180" y="2196"/>
                </a:cubicBezTo>
                <a:cubicBezTo>
                  <a:pt x="3498" y="2196"/>
                  <a:pt x="3791" y="2298"/>
                  <a:pt x="4030" y="2471"/>
                </a:cubicBezTo>
                <a:lnTo>
                  <a:pt x="3419" y="3083"/>
                </a:lnTo>
                <a:cubicBezTo>
                  <a:pt x="3346" y="3051"/>
                  <a:pt x="3265" y="3034"/>
                  <a:pt x="3180" y="3034"/>
                </a:cubicBezTo>
                <a:cubicBezTo>
                  <a:pt x="2843" y="3034"/>
                  <a:pt x="2568" y="3309"/>
                  <a:pt x="2568" y="3646"/>
                </a:cubicBezTo>
                <a:cubicBezTo>
                  <a:pt x="2568" y="3984"/>
                  <a:pt x="2843" y="4259"/>
                  <a:pt x="3180" y="4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Arial"/>
              <a:ea typeface="微软雅黑"/>
              <a:cs typeface="+mn-ea"/>
              <a:sym typeface="Arial"/>
            </a:endParaRP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18563A2B-C688-DF7B-9A45-46A45BC50C0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068811" y="1366351"/>
            <a:ext cx="8710111" cy="3254737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b="1" i="0" dirty="0">
                <a:effectLst/>
                <a:latin typeface="Inter"/>
              </a:rPr>
              <a:t>项目背景</a:t>
            </a:r>
          </a:p>
          <a:p>
            <a:pPr algn="l"/>
            <a:br>
              <a:rPr lang="zh-CN" altLang="en-US" dirty="0"/>
            </a:br>
            <a:r>
              <a:rPr lang="zh-CN" altLang="en-US" b="0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如今校园生活</a:t>
            </a:r>
            <a:r>
              <a:rPr lang="zh-CN" altLang="en-US" b="1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节奏快</a:t>
            </a:r>
            <a:r>
              <a:rPr lang="zh-CN" altLang="en-US" b="0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，外卖</a:t>
            </a:r>
            <a:r>
              <a:rPr lang="zh-CN" altLang="en-US" b="1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需求渐长</a:t>
            </a:r>
            <a:r>
              <a:rPr lang="zh-CN" altLang="en-US" b="0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，但存在配送</a:t>
            </a:r>
            <a:r>
              <a:rPr lang="zh-CN" altLang="en-US" b="1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效率</a:t>
            </a:r>
            <a:r>
              <a:rPr lang="zh-CN" altLang="en-US" b="0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、商家</a:t>
            </a:r>
            <a:r>
              <a:rPr lang="zh-CN" altLang="en-US" b="1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经营</a:t>
            </a:r>
            <a:r>
              <a:rPr lang="zh-CN" altLang="en-US" b="0" i="0" dirty="0">
                <a:effectLst/>
                <a:latin typeface="汉仪中黑 197" panose="00020600040101010101" pitchFamily="18" charset="-122"/>
                <a:ea typeface="汉仪中黑 197" panose="00020600040101010101" pitchFamily="18" charset="-122"/>
              </a:rPr>
              <a:t>等方面问题。“饭来了” 校园外卖平台便应需而生。</a:t>
            </a:r>
          </a:p>
          <a:p>
            <a:pPr algn="l">
              <a:spcAft>
                <a:spcPts val="300"/>
              </a:spcAft>
            </a:pPr>
            <a:endParaRPr lang="en-US" altLang="zh-CN" b="1" i="0" dirty="0">
              <a:effectLst/>
              <a:latin typeface="Inter"/>
            </a:endParaRPr>
          </a:p>
          <a:p>
            <a:pPr algn="l">
              <a:spcAft>
                <a:spcPts val="300"/>
              </a:spcAft>
            </a:pPr>
            <a:r>
              <a:rPr lang="zh-CN" altLang="en-US" b="1" i="0" dirty="0">
                <a:effectLst/>
                <a:latin typeface="Inter"/>
              </a:rPr>
              <a:t>研究意义</a:t>
            </a:r>
          </a:p>
          <a:p>
            <a:pPr algn="l"/>
            <a:br>
              <a:rPr lang="zh-CN" altLang="en-US" dirty="0"/>
            </a:b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此平台意义重大，一是满足师生外卖需求，提升生活</a:t>
            </a:r>
            <a:r>
              <a:rPr lang="zh-CN" altLang="en-US" b="1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便捷性</a:t>
            </a: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；二是助力商家精准经营，优化</a:t>
            </a:r>
            <a:r>
              <a:rPr lang="zh-CN" altLang="en-US" b="1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资源配置</a:t>
            </a: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；三是增强平台竞争力，促进</a:t>
            </a:r>
            <a:r>
              <a:rPr lang="zh-CN" altLang="en-US" b="1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餐饮生态</a:t>
            </a: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健康发展；四是</a:t>
            </a:r>
            <a:r>
              <a:rPr lang="zh-CN" altLang="en-US" b="1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带动相关经济</a:t>
            </a: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；五是助力校园</a:t>
            </a:r>
            <a:r>
              <a:rPr lang="zh-CN" altLang="en-US" b="1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数字化</a:t>
            </a:r>
            <a:r>
              <a:rPr lang="zh-CN" altLang="en-US" dirty="0">
                <a:latin typeface="汉仪中黑 197" panose="00020600040101010101" pitchFamily="18" charset="-122"/>
                <a:ea typeface="汉仪中黑 197" panose="00020600040101010101" pitchFamily="18" charset="-122"/>
              </a:rPr>
              <a:t>管理，推动智慧校园建设。对校园各方有益，应用前景好，能推动校园外卖领域良性发展。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0547261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6305"/>
          <p:cNvPicPr>
            <a:picLocks noChangeAspect="1"/>
          </p:cNvPicPr>
          <p:nvPr/>
        </p:nvPicPr>
        <p:blipFill>
          <a:blip r:embed="rId3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492126" y="905510"/>
            <a:ext cx="3738245" cy="4185920"/>
            <a:chOff x="1237" y="1712"/>
            <a:chExt cx="5887" cy="6592"/>
          </a:xfrm>
        </p:grpSpPr>
        <p:sp>
          <p:nvSpPr>
            <p:cNvPr id="40" name="平行四边形 39"/>
            <p:cNvSpPr/>
            <p:nvPr/>
          </p:nvSpPr>
          <p:spPr>
            <a:xfrm>
              <a:off x="1237" y="6154"/>
              <a:ext cx="4174" cy="859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4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1257" y="1712"/>
              <a:ext cx="5867" cy="6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6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mpact" pitchFamily="34" charset="0"/>
                  <a:ea typeface="微软雅黑"/>
                  <a:sym typeface="Arial"/>
                </a:rPr>
                <a:t>0</a:t>
              </a:r>
              <a:r>
                <a:rPr lang="en-US" altLang="zh-CN" sz="26600" dirty="0">
                  <a:solidFill>
                    <a:schemeClr val="accent2"/>
                  </a:solidFill>
                  <a:latin typeface="Impact" pitchFamily="34" charset="0"/>
                  <a:ea typeface="微软雅黑"/>
                  <a:sym typeface="Arial"/>
                </a:rPr>
                <a:t>2</a:t>
              </a:r>
            </a:p>
          </p:txBody>
        </p:sp>
      </p:grpSp>
      <p:sp>
        <p:nvSpPr>
          <p:cNvPr id="539" name="文本框 538"/>
          <p:cNvSpPr txBox="1"/>
          <p:nvPr/>
        </p:nvSpPr>
        <p:spPr>
          <a:xfrm>
            <a:off x="981075" y="956312"/>
            <a:ext cx="1545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PART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4165140" y="2486854"/>
            <a:ext cx="6775451" cy="1200150"/>
            <a:chOff x="6730" y="2714"/>
            <a:chExt cx="10670" cy="1890"/>
          </a:xfrm>
        </p:grpSpPr>
        <p:sp>
          <p:nvSpPr>
            <p:cNvPr id="25" name="平行四边形 24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730" y="2714"/>
              <a:ext cx="10480" cy="18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7200" b="1" spc="30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dirty="0">
                  <a:sym typeface="Arial"/>
                </a:rPr>
                <a:t>功能结构图</a:t>
              </a:r>
            </a:p>
          </p:txBody>
        </p:sp>
      </p:grpSp>
      <p:grpSp>
        <p:nvGrpSpPr>
          <p:cNvPr id="1070" name="组合 1069"/>
          <p:cNvGrpSpPr/>
          <p:nvPr/>
        </p:nvGrpSpPr>
        <p:grpSpPr>
          <a:xfrm>
            <a:off x="10283826" y="4453228"/>
            <a:ext cx="644349" cy="146060"/>
            <a:chOff x="4438457" y="299555"/>
            <a:chExt cx="1007449" cy="228367"/>
          </a:xfrm>
        </p:grpSpPr>
        <p:sp>
          <p:nvSpPr>
            <p:cNvPr id="1067" name="椭圆 1066"/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/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/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821114" y="542360"/>
            <a:ext cx="819111" cy="238954"/>
            <a:chOff x="1360474" y="6383009"/>
            <a:chExt cx="819110" cy="238954"/>
          </a:xfrm>
        </p:grpSpPr>
        <p:sp>
          <p:nvSpPr>
            <p:cNvPr id="58" name="任意多边形: 形状 4"/>
            <p:cNvSpPr/>
            <p:nvPr/>
          </p:nvSpPr>
          <p:spPr>
            <a:xfrm rot="18900000">
              <a:off x="1360474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9" name="任意多边形: 形状 15"/>
            <p:cNvSpPr/>
            <p:nvPr/>
          </p:nvSpPr>
          <p:spPr>
            <a:xfrm rot="18900000">
              <a:off x="1650552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16000">
                  <a:srgbClr val="FCA092"/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任意多边形: 形状 16"/>
            <p:cNvSpPr/>
            <p:nvPr/>
          </p:nvSpPr>
          <p:spPr>
            <a:xfrm rot="18900000">
              <a:off x="1940630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/>
      <p:bldP spid="53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248A-896D-CC63-87C5-326947E7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03BA2C60-C558-181B-BF26-D8EAC74AF3E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000"/>
          </a:blip>
          <a:srcRect t="7813" b="7813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F984F8F7-2433-BBCE-36BE-E3AAB594CDB3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330FB701-EA39-698B-AE17-4FAB9882871A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4D3118D9-32EB-184C-DCFC-50B3A337C590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93DAAAF-B07C-AE02-D926-6B86F1F2365E}"/>
              </a:ext>
            </a:extLst>
          </p:cNvPr>
          <p:cNvGrpSpPr/>
          <p:nvPr/>
        </p:nvGrpSpPr>
        <p:grpSpPr>
          <a:xfrm>
            <a:off x="198044" y="192926"/>
            <a:ext cx="3680460" cy="789179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3B527E9E-6FF6-EC44-4F80-BB79F30332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BB0005AA-38FE-2C54-156E-C6E16CEEBF7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92" y="1183"/>
              <a:ext cx="5614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系统角色分类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262597F1-48A7-016E-2D44-73B552F17B46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sp>
        <p:nvSpPr>
          <p:cNvPr id="50" name="图形">
            <a:extLst>
              <a:ext uri="{FF2B5EF4-FFF2-40B4-BE49-F238E27FC236}">
                <a16:creationId xmlns:a16="http://schemas.microsoft.com/office/drawing/2014/main" id="{FF989205-B4FA-1CEF-2B86-7FBEAD9A72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52263" y="2433200"/>
            <a:ext cx="791593" cy="1441955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01</a:t>
            </a:r>
            <a:endParaRPr lang="zh-CN" altLang="en-US" dirty="0">
              <a:latin typeface="Arial"/>
              <a:ea typeface="微软雅黑"/>
              <a:cs typeface="字魂58号-创中黑" panose="00000500000000000000" charset="-122"/>
              <a:sym typeface="Arial"/>
            </a:endParaRPr>
          </a:p>
        </p:txBody>
      </p:sp>
      <p:sp>
        <p:nvSpPr>
          <p:cNvPr id="51" name="图形">
            <a:extLst>
              <a:ext uri="{FF2B5EF4-FFF2-40B4-BE49-F238E27FC236}">
                <a16:creationId xmlns:a16="http://schemas.microsoft.com/office/drawing/2014/main" id="{683F717D-9BCC-4025-E25B-7DE13935D7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940972" y="2433199"/>
            <a:ext cx="791593" cy="1441955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02</a:t>
            </a:r>
            <a:endParaRPr lang="zh-CN" altLang="en-US" dirty="0">
              <a:latin typeface="Arial"/>
              <a:ea typeface="微软雅黑"/>
              <a:cs typeface="字魂58号-创中黑" panose="00000500000000000000" charset="-122"/>
              <a:sym typeface="Arial"/>
            </a:endParaRPr>
          </a:p>
        </p:txBody>
      </p:sp>
      <p:sp>
        <p:nvSpPr>
          <p:cNvPr id="52" name="图形">
            <a:extLst>
              <a:ext uri="{FF2B5EF4-FFF2-40B4-BE49-F238E27FC236}">
                <a16:creationId xmlns:a16="http://schemas.microsoft.com/office/drawing/2014/main" id="{0339FF53-F830-6112-5C5E-AF149D53D1E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403124" y="2433198"/>
            <a:ext cx="791593" cy="1441955"/>
          </a:xfrm>
          <a:custGeom>
            <a:avLst/>
            <a:gdLst>
              <a:gd name="connsiteX0" fmla="*/ 0 w 703149"/>
              <a:gd name="connsiteY0" fmla="*/ 257806 h 515613"/>
              <a:gd name="connsiteX1" fmla="*/ 0 w 703149"/>
              <a:gd name="connsiteY1" fmla="*/ 257807 h 515613"/>
              <a:gd name="connsiteX2" fmla="*/ 0 w 703149"/>
              <a:gd name="connsiteY2" fmla="*/ 257807 h 515613"/>
              <a:gd name="connsiteX3" fmla="*/ 257807 w 703149"/>
              <a:gd name="connsiteY3" fmla="*/ 0 h 515613"/>
              <a:gd name="connsiteX4" fmla="*/ 703149 w 703149"/>
              <a:gd name="connsiteY4" fmla="*/ 0 h 515613"/>
              <a:gd name="connsiteX5" fmla="*/ 703149 w 703149"/>
              <a:gd name="connsiteY5" fmla="*/ 515613 h 515613"/>
              <a:gd name="connsiteX6" fmla="*/ 257807 w 703149"/>
              <a:gd name="connsiteY6" fmla="*/ 515613 h 515613"/>
              <a:gd name="connsiteX7" fmla="*/ 20260 w 703149"/>
              <a:gd name="connsiteY7" fmla="*/ 358156 h 515613"/>
              <a:gd name="connsiteX8" fmla="*/ 0 w 703149"/>
              <a:gd name="connsiteY8" fmla="*/ 257807 h 515613"/>
              <a:gd name="connsiteX9" fmla="*/ 20260 w 703149"/>
              <a:gd name="connsiteY9" fmla="*/ 157457 h 515613"/>
              <a:gd name="connsiteX10" fmla="*/ 257807 w 703149"/>
              <a:gd name="connsiteY10" fmla="*/ 0 h 51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3149" h="515613">
                <a:moveTo>
                  <a:pt x="0" y="257806"/>
                </a:moveTo>
                <a:lnTo>
                  <a:pt x="0" y="257807"/>
                </a:lnTo>
                <a:lnTo>
                  <a:pt x="0" y="257807"/>
                </a:lnTo>
                <a:close/>
                <a:moveTo>
                  <a:pt x="257807" y="0"/>
                </a:moveTo>
                <a:lnTo>
                  <a:pt x="703149" y="0"/>
                </a:lnTo>
                <a:lnTo>
                  <a:pt x="703149" y="515613"/>
                </a:lnTo>
                <a:lnTo>
                  <a:pt x="257807" y="515613"/>
                </a:lnTo>
                <a:cubicBezTo>
                  <a:pt x="151020" y="515613"/>
                  <a:pt x="59397" y="450687"/>
                  <a:pt x="20260" y="358156"/>
                </a:cubicBezTo>
                <a:lnTo>
                  <a:pt x="0" y="257807"/>
                </a:lnTo>
                <a:lnTo>
                  <a:pt x="20260" y="157457"/>
                </a:lnTo>
                <a:cubicBezTo>
                  <a:pt x="59397" y="64926"/>
                  <a:pt x="151020" y="0"/>
                  <a:pt x="2578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03</a:t>
            </a:r>
            <a:endParaRPr lang="zh-CN" altLang="en-US" dirty="0">
              <a:latin typeface="Arial"/>
              <a:ea typeface="微软雅黑"/>
              <a:cs typeface="字魂58号-创中黑" panose="00000500000000000000" charset="-122"/>
              <a:sym typeface="Arial"/>
            </a:endParaRPr>
          </a:p>
        </p:txBody>
      </p:sp>
      <p:sp>
        <p:nvSpPr>
          <p:cNvPr id="53" name="图形">
            <a:extLst>
              <a:ext uri="{FF2B5EF4-FFF2-40B4-BE49-F238E27FC236}">
                <a16:creationId xmlns:a16="http://schemas.microsoft.com/office/drawing/2014/main" id="{11C2E05B-B5E0-6C75-DAF4-47B509A8D12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43987" y="4162116"/>
            <a:ext cx="150659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平台管理员</a:t>
            </a:r>
          </a:p>
        </p:txBody>
      </p:sp>
      <p:sp>
        <p:nvSpPr>
          <p:cNvPr id="55" name="图形">
            <a:extLst>
              <a:ext uri="{FF2B5EF4-FFF2-40B4-BE49-F238E27FC236}">
                <a16:creationId xmlns:a16="http://schemas.microsoft.com/office/drawing/2014/main" id="{958B05A3-477F-392D-6CF8-048001F078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69287" y="4094752"/>
            <a:ext cx="106821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商家</a:t>
            </a:r>
          </a:p>
        </p:txBody>
      </p:sp>
      <p:sp>
        <p:nvSpPr>
          <p:cNvPr id="56" name="图形">
            <a:extLst>
              <a:ext uri="{FF2B5EF4-FFF2-40B4-BE49-F238E27FC236}">
                <a16:creationId xmlns:a16="http://schemas.microsoft.com/office/drawing/2014/main" id="{09261686-646B-65D2-5812-7DB687DCF96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0056209" y="4235047"/>
            <a:ext cx="103861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dirty="0">
                <a:latin typeface="Arial"/>
                <a:ea typeface="微软雅黑"/>
                <a:cs typeface="字魂58号-创中黑" panose="00000500000000000000" charset="-122"/>
                <a:sym typeface="Arial"/>
              </a:rPr>
              <a:t>顾客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37D2E5-6EF8-4603-9627-BF22588D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996" y="2142630"/>
            <a:ext cx="1178574" cy="187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6AF7184-8763-8154-10E3-346DC9D4C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51355"/>
            <a:ext cx="1178574" cy="187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26FC4EE-F441-FDB3-A412-54E36AA98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4004" y="2230269"/>
            <a:ext cx="1068213" cy="169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1708843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E29A-4AD6-51F2-0C12-277C8D78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3FA21709-8E36-4722-5A48-959E6EA48A4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5E17BF0F-F56E-F722-4E4F-E924CD9877C1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83E64966-5ED3-6AFD-6E32-7719B592C2B1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BF0EE4B9-F0B7-775F-CB98-3362D48F051F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B2FAB408-99F6-AF00-D6A6-557883EF2E5F}"/>
              </a:ext>
            </a:extLst>
          </p:cNvPr>
          <p:cNvGrpSpPr/>
          <p:nvPr/>
        </p:nvGrpSpPr>
        <p:grpSpPr>
          <a:xfrm>
            <a:off x="198043" y="192925"/>
            <a:ext cx="3561157" cy="839913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3B60387F-853E-0D72-0B86-40F02871F3C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1A7656DF-F26B-0B8E-D903-E9F88173E4A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92" y="1183"/>
              <a:ext cx="5321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Arial"/>
                </a:rPr>
                <a:t>角色</a:t>
              </a: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用例图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D2C1CF6B-90C8-6945-9CAA-C0BCDAE1CEA9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CBD4D9-80A8-6254-DC95-5088462D7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827" y="3178148"/>
            <a:ext cx="5057775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AA70A05-88B6-8831-EF57-89F551A0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98" y="1185391"/>
            <a:ext cx="5057775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69AFAB6-8977-8056-538F-3C08350CE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717" y="367508"/>
            <a:ext cx="48672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7534610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2FB09-4F06-74EB-39E3-5077D752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1B391D30-6493-6C72-2525-1CF363D82BE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0D828A25-F03D-F708-34C1-D02A16D05F53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D3A87346-1D45-FE99-46AA-CCC1FA1F01CB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2C753E8B-0A92-4D76-C2A9-BFCBFEB8E088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5AB43D9B-330C-7254-F0E7-3B2AAF63959B}"/>
              </a:ext>
            </a:extLst>
          </p:cNvPr>
          <p:cNvGrpSpPr/>
          <p:nvPr/>
        </p:nvGrpSpPr>
        <p:grpSpPr>
          <a:xfrm>
            <a:off x="198043" y="192926"/>
            <a:ext cx="4056715" cy="861266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3B8FC621-A424-7833-3365-F9E557795BA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EB4FD7E9-22E1-9D59-973A-7C3BBD48618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92" y="1183"/>
              <a:ext cx="5892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系统功能结构图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9416E35B-A519-F479-1258-A2BA54EE9E90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C89C405-D28F-5828-26F7-93BB5DE6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51" y="949778"/>
            <a:ext cx="11494806" cy="464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3439297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6305"/>
          <p:cNvPicPr>
            <a:picLocks noChangeAspect="1"/>
          </p:cNvPicPr>
          <p:nvPr/>
        </p:nvPicPr>
        <p:blipFill>
          <a:blip r:embed="rId3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20065" y="891540"/>
            <a:ext cx="3834766" cy="4185920"/>
            <a:chOff x="1237" y="1712"/>
            <a:chExt cx="6039" cy="6592"/>
          </a:xfrm>
        </p:grpSpPr>
        <p:sp>
          <p:nvSpPr>
            <p:cNvPr id="40" name="平行四边形 39"/>
            <p:cNvSpPr/>
            <p:nvPr/>
          </p:nvSpPr>
          <p:spPr>
            <a:xfrm>
              <a:off x="1237" y="6154"/>
              <a:ext cx="4174" cy="859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4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1257" y="1712"/>
              <a:ext cx="6019" cy="6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6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mpact" pitchFamily="34" charset="0"/>
                  <a:ea typeface="微软雅黑"/>
                  <a:sym typeface="Arial"/>
                </a:rPr>
                <a:t>0</a:t>
              </a:r>
              <a:r>
                <a:rPr lang="en-US" altLang="zh-CN" sz="26600" dirty="0">
                  <a:solidFill>
                    <a:schemeClr val="accent2"/>
                  </a:solidFill>
                  <a:latin typeface="Impact" pitchFamily="34" charset="0"/>
                  <a:ea typeface="微软雅黑"/>
                  <a:sym typeface="Arial"/>
                </a:rPr>
                <a:t>3</a:t>
              </a:r>
            </a:p>
          </p:txBody>
        </p:sp>
      </p:grpSp>
      <p:sp>
        <p:nvSpPr>
          <p:cNvPr id="539" name="文本框 538"/>
          <p:cNvSpPr txBox="1"/>
          <p:nvPr/>
        </p:nvSpPr>
        <p:spPr>
          <a:xfrm>
            <a:off x="981075" y="956312"/>
            <a:ext cx="1545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PART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4273549" y="1723391"/>
            <a:ext cx="6775451" cy="1200150"/>
            <a:chOff x="6730" y="2714"/>
            <a:chExt cx="10670" cy="1890"/>
          </a:xfrm>
        </p:grpSpPr>
        <p:sp>
          <p:nvSpPr>
            <p:cNvPr id="25" name="平行四边形 24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730" y="2714"/>
              <a:ext cx="10480" cy="18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7200" b="1" spc="30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dirty="0">
                  <a:sym typeface="Arial"/>
                </a:rPr>
                <a:t>拟采用技术栈</a:t>
              </a:r>
            </a:p>
          </p:txBody>
        </p:sp>
      </p:grpSp>
      <p:sp>
        <p:nvSpPr>
          <p:cNvPr id="23" name="图形"/>
          <p:cNvSpPr txBox="1"/>
          <p:nvPr/>
        </p:nvSpPr>
        <p:spPr>
          <a:xfrm>
            <a:off x="4292601" y="2985769"/>
            <a:ext cx="6769100" cy="14295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在整合技术栈时，我们将遵循最佳实践，确保前端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Vue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框架与后端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Java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、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Spring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、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MP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的无缝对接。通过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RESTful API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进行数据交互，利用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Redis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进行数据缓存和会话管理，以及使用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MySQL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"/>
                <a:cs typeface="包图粗黑体" panose="02000800000000000000" charset="-122"/>
                <a:sym typeface="Arial"/>
              </a:rPr>
              <a:t>存储持久化数据。整个技术栈的整合策略将注重模块化、解耦和可维护性。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包图粗黑体" panose="02000800000000000000" charset="-122"/>
              <a:sym typeface="Arial"/>
            </a:endParaRPr>
          </a:p>
        </p:txBody>
      </p:sp>
      <p:grpSp>
        <p:nvGrpSpPr>
          <p:cNvPr id="1070" name="组合 1069"/>
          <p:cNvGrpSpPr/>
          <p:nvPr/>
        </p:nvGrpSpPr>
        <p:grpSpPr>
          <a:xfrm>
            <a:off x="10283826" y="4453228"/>
            <a:ext cx="644349" cy="146060"/>
            <a:chOff x="4438457" y="299555"/>
            <a:chExt cx="1007449" cy="228367"/>
          </a:xfrm>
        </p:grpSpPr>
        <p:sp>
          <p:nvSpPr>
            <p:cNvPr id="1067" name="椭圆 1066"/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/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/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821114" y="542360"/>
            <a:ext cx="819111" cy="238954"/>
            <a:chOff x="1360474" y="6383009"/>
            <a:chExt cx="819110" cy="238954"/>
          </a:xfrm>
        </p:grpSpPr>
        <p:sp>
          <p:nvSpPr>
            <p:cNvPr id="58" name="任意多边形: 形状 4"/>
            <p:cNvSpPr/>
            <p:nvPr/>
          </p:nvSpPr>
          <p:spPr>
            <a:xfrm rot="18900000">
              <a:off x="1360474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9" name="任意多边形: 形状 15"/>
            <p:cNvSpPr/>
            <p:nvPr/>
          </p:nvSpPr>
          <p:spPr>
            <a:xfrm rot="18900000">
              <a:off x="1650552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16000">
                  <a:srgbClr val="FCA092"/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任意多边形: 形状 16"/>
            <p:cNvSpPr/>
            <p:nvPr/>
          </p:nvSpPr>
          <p:spPr>
            <a:xfrm rot="18900000">
              <a:off x="1940630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split orient="vert" dir="in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/>
      <p:bldP spid="539" grpId="1"/>
      <p:bldP spid="23" grpId="0"/>
      <p:bldP spid="2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C306-E99C-6DBE-0121-3040E151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20D70FD4-E0FB-7B96-7A7A-7DDFC85A9152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 amt="8000"/>
          </a:blip>
          <a:srcRect t="7813" b="7813"/>
          <a:stretch>
            <a:fillRect/>
          </a:stretch>
        </p:blipFill>
        <p:spPr>
          <a:xfrm>
            <a:off x="-635" y="-193561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BB85C70E-08D9-5EA7-619E-6CB63C47C344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B2B2ABC8-2026-7A81-90F4-DA71931D9022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B3B11B39-1DC9-F20D-1F90-5A52BC69431B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EA0010FB-92BB-5123-FC5D-22D13635CB46}"/>
              </a:ext>
            </a:extLst>
          </p:cNvPr>
          <p:cNvGrpSpPr/>
          <p:nvPr/>
        </p:nvGrpSpPr>
        <p:grpSpPr>
          <a:xfrm>
            <a:off x="198044" y="192926"/>
            <a:ext cx="3680460" cy="789179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E3EB5354-92DA-8C6F-FAE5-01A2B5DD773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254A7C54-3176-5C99-46B9-2B411786C1C5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492" y="1183"/>
              <a:ext cx="5614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  <a:sym typeface="Arial"/>
                </a:rPr>
                <a:t>拟采用技术栈</a:t>
              </a: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4A40D580-688B-A6CB-58B8-7D7E7A2F1DBD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grpSp>
        <p:nvGrpSpPr>
          <p:cNvPr id="2" name="图形">
            <a:extLst>
              <a:ext uri="{FF2B5EF4-FFF2-40B4-BE49-F238E27FC236}">
                <a16:creationId xmlns:a16="http://schemas.microsoft.com/office/drawing/2014/main" id="{9B5F2D11-B428-B8F3-4668-0E07A31FE3C6}"/>
              </a:ext>
            </a:extLst>
          </p:cNvPr>
          <p:cNvGrpSpPr/>
          <p:nvPr/>
        </p:nvGrpSpPr>
        <p:grpSpPr>
          <a:xfrm>
            <a:off x="495300" y="1946015"/>
            <a:ext cx="11200764" cy="3656051"/>
            <a:chOff x="1435" y="4236"/>
            <a:chExt cx="12171" cy="4803"/>
          </a:xfrm>
        </p:grpSpPr>
        <p:sp>
          <p:nvSpPr>
            <p:cNvPr id="3" name="图形">
              <a:extLst>
                <a:ext uri="{FF2B5EF4-FFF2-40B4-BE49-F238E27FC236}">
                  <a16:creationId xmlns:a16="http://schemas.microsoft.com/office/drawing/2014/main" id="{AAFC0DF9-DF20-0A9C-4A85-9D36B70FC59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445" y="7158"/>
              <a:ext cx="1825" cy="18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28172A93-F432-9388-16B2-B4AFFC2E3DD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435" y="4582"/>
              <a:ext cx="3899" cy="376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rgbClr val="EFFFF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5" name="图形">
              <a:extLst>
                <a:ext uri="{FF2B5EF4-FFF2-40B4-BE49-F238E27FC236}">
                  <a16:creationId xmlns:a16="http://schemas.microsoft.com/office/drawing/2014/main" id="{6DE9CAA0-0169-9D15-ABE6-89E0FC5D4D2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616" y="7342"/>
              <a:ext cx="1483" cy="1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dist="127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6" name="图形">
              <a:extLst>
                <a:ext uri="{FF2B5EF4-FFF2-40B4-BE49-F238E27FC236}">
                  <a16:creationId xmlns:a16="http://schemas.microsoft.com/office/drawing/2014/main" id="{93AE19EE-4B56-E688-E969-CFEBCD7B180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581" y="7158"/>
              <a:ext cx="1825" cy="188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7" name="图形">
              <a:extLst>
                <a:ext uri="{FF2B5EF4-FFF2-40B4-BE49-F238E27FC236}">
                  <a16:creationId xmlns:a16="http://schemas.microsoft.com/office/drawing/2014/main" id="{D3E558A3-8076-8373-9801-167E0F0CCB8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571" y="4582"/>
              <a:ext cx="3899" cy="376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rgbClr val="EFFFF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62FE2E36-1766-3673-F28D-476C2B72460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752" y="7342"/>
              <a:ext cx="1483" cy="1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dist="127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9" name="图形">
              <a:extLst>
                <a:ext uri="{FF2B5EF4-FFF2-40B4-BE49-F238E27FC236}">
                  <a16:creationId xmlns:a16="http://schemas.microsoft.com/office/drawing/2014/main" id="{B87A7A86-3D8F-0E95-CBB3-2E45E32425D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718" y="7158"/>
              <a:ext cx="1825" cy="188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A35C6C01-24DE-5DA5-A226-463FC840194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707" y="4582"/>
              <a:ext cx="3899" cy="3762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rgbClr val="EFFFFD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FEF2FCBE-E8D2-B2BA-0E4C-A0D1B69ECF1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889" y="7342"/>
              <a:ext cx="1483" cy="1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dist="12700" algn="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chemeClr val="bg1"/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5" name="图形">
              <a:extLst>
                <a:ext uri="{FF2B5EF4-FFF2-40B4-BE49-F238E27FC236}">
                  <a16:creationId xmlns:a16="http://schemas.microsoft.com/office/drawing/2014/main" id="{FFF5D346-B339-41D9-918D-33468B8CA8E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599" y="7829"/>
              <a:ext cx="1590" cy="6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>
                <a:buClr>
                  <a:srgbClr val="E24848"/>
                </a:buClr>
                <a:defRPr/>
              </a:pPr>
              <a:r>
                <a:rPr lang="en-US" altLang="zh-CN" sz="2400" noProof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 CN Normal" panose="020B0400000000000000" charset="-122"/>
                  <a:sym typeface="Arial"/>
                </a:rPr>
                <a:t>Vue</a:t>
              </a:r>
              <a:endParaRPr lang="en-US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6" name="图形">
              <a:extLst>
                <a:ext uri="{FF2B5EF4-FFF2-40B4-BE49-F238E27FC236}">
                  <a16:creationId xmlns:a16="http://schemas.microsoft.com/office/drawing/2014/main" id="{877FBB01-3167-3C8E-F1CA-AE15F0E280C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737" y="7829"/>
              <a:ext cx="1590" cy="606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>
                <a:buClr>
                  <a:srgbClr val="E24848"/>
                </a:buClr>
                <a:defRPr/>
              </a:pPr>
              <a:r>
                <a:rPr lang="en-US" altLang="zh-CN" sz="2400" noProof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 CN Normal" panose="020B0400000000000000" charset="-122"/>
                  <a:sym typeface="Arial"/>
                </a:rPr>
                <a:t>SSM</a:t>
              </a:r>
              <a:endParaRPr lang="en-US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687DA8F9-FF4E-71F9-1136-E39DE5D4ED9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632" y="7766"/>
              <a:ext cx="2049" cy="48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>
                <a:buClr>
                  <a:srgbClr val="E24848"/>
                </a:buClr>
                <a:defRPr/>
              </a:pPr>
              <a:r>
                <a:rPr lang="en-US" altLang="zh-CN" noProof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 CN Normal" panose="020B0400000000000000" charset="-122"/>
                  <a:sym typeface="Arial"/>
                </a:rPr>
                <a:t>MySQL</a:t>
              </a:r>
              <a:r>
                <a:rPr lang="zh-CN" altLang="en-US" noProof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 CN Normal" panose="020B0400000000000000" charset="-122"/>
                  <a:sym typeface="Arial"/>
                </a:rPr>
                <a:t>、</a:t>
              </a:r>
              <a:r>
                <a:rPr lang="en-US" altLang="zh-CN" noProof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 CN Normal" panose="020B0400000000000000" charset="-122"/>
                  <a:sym typeface="Arial"/>
                </a:rPr>
                <a:t>Redis</a:t>
              </a:r>
              <a:endParaRPr 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933545AE-491D-9AA7-5C2A-E9A1954790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913" y="4236"/>
              <a:ext cx="2899" cy="735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anchor="ctr">
              <a:noAutofit/>
            </a:bodyPr>
            <a:lstStyle/>
            <a:p>
              <a:pPr algn="ctr"/>
              <a:r>
                <a:rPr lang="zh-CN" altLang="en-US" sz="2200" dirty="0">
                  <a:solidFill>
                    <a:schemeClr val="bg1"/>
                  </a:solidFill>
                  <a:latin typeface="Arial"/>
                  <a:ea typeface="微软雅黑"/>
                  <a:cs typeface="包图粗黑体" panose="02000800000000000000" charset="-122"/>
                  <a:sym typeface="Arial"/>
                </a:rPr>
                <a:t>前端</a:t>
              </a:r>
            </a:p>
          </p:txBody>
        </p:sp>
        <p:sp>
          <p:nvSpPr>
            <p:cNvPr id="20" name="图形">
              <a:extLst>
                <a:ext uri="{FF2B5EF4-FFF2-40B4-BE49-F238E27FC236}">
                  <a16:creationId xmlns:a16="http://schemas.microsoft.com/office/drawing/2014/main" id="{B01F363D-DADE-39E0-1F46-5A13B183D93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083" y="4236"/>
              <a:ext cx="2711" cy="735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anchor="ctr">
              <a:noAutofit/>
            </a:bodyPr>
            <a:lstStyle/>
            <a:p>
              <a:pPr algn="ctr"/>
              <a:r>
                <a:rPr lang="zh-CN" altLang="en-US" sz="2200" dirty="0">
                  <a:solidFill>
                    <a:schemeClr val="bg1"/>
                  </a:solidFill>
                  <a:latin typeface="Arial"/>
                  <a:ea typeface="微软雅黑"/>
                  <a:cs typeface="包图粗黑体" panose="02000800000000000000" charset="-122"/>
                  <a:sym typeface="Arial"/>
                </a:rPr>
                <a:t>服务端</a:t>
              </a:r>
            </a:p>
          </p:txBody>
        </p:sp>
        <p:sp>
          <p:nvSpPr>
            <p:cNvPr id="21" name="图形">
              <a:extLst>
                <a:ext uri="{FF2B5EF4-FFF2-40B4-BE49-F238E27FC236}">
                  <a16:creationId xmlns:a16="http://schemas.microsoft.com/office/drawing/2014/main" id="{84F91F0D-BA06-A4CD-BE2C-6124BBCD9D9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214" y="4236"/>
              <a:ext cx="2711" cy="735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anchor="ctr">
              <a:noAutofit/>
            </a:bodyPr>
            <a:lstStyle/>
            <a:p>
              <a:pPr algn="ctr"/>
              <a:r>
                <a:rPr lang="zh-CN" altLang="en-US" sz="2200" dirty="0">
                  <a:solidFill>
                    <a:schemeClr val="bg1"/>
                  </a:solidFill>
                  <a:latin typeface="Arial"/>
                  <a:ea typeface="微软雅黑"/>
                  <a:cs typeface="包图粗黑体" panose="02000800000000000000" charset="-122"/>
                  <a:sym typeface="Arial"/>
                </a:rPr>
                <a:t>数据持久化</a:t>
              </a:r>
            </a:p>
          </p:txBody>
        </p:sp>
        <p:sp>
          <p:nvSpPr>
            <p:cNvPr id="23" name="图形">
              <a:extLst>
                <a:ext uri="{FF2B5EF4-FFF2-40B4-BE49-F238E27FC236}">
                  <a16:creationId xmlns:a16="http://schemas.microsoft.com/office/drawing/2014/main" id="{A606FF0F-4ADB-D3B1-A2A4-0090F20EAA3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5866" y="5270"/>
              <a:ext cx="3426" cy="226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Spring Boot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与</a:t>
              </a:r>
              <a:r>
                <a:rPr lang="en-US" altLang="zh-CN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MyBatis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 Plus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的组合，为后端开发提供了快速开发的能力。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Spring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 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Boot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能够简化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Spring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应用的初始搭建以及开发过程，内置了许多开箱即用的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Starter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组件。</a:t>
              </a:r>
              <a:r>
                <a:rPr lang="en-US" altLang="zh-CN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MyBatis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 Plus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则简化了数据库操作，通过代码生成器等功能进一步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提高了开发效率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52C0C81F-5FC9-62FC-92DE-0C4BB66ABE3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85" y="5270"/>
              <a:ext cx="3629" cy="22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Vue.js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是一个渐进式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JavaScript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框架，其核心库只关注视图层，易于上手，同时也可以通过官方维护的库和社区开发的插件实现复杂的应用。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Vue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的优势在于其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轻量级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、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灵活性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和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组件化开发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，能够提高开发效率，降低项目维护成本，并且拥有强大的社区支持。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98768F5E-23F9-CBA1-DD0F-53CBE4E20FFB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9933" y="5270"/>
              <a:ext cx="3524" cy="18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MySQL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作为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关系型数据库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，具有稳定性和成熟性，适用于存储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结构化数据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。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Redis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则是一个高性能的键值数据库，适用于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缓存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"/>
                  <a:cs typeface="思源黑体旧字形 Light" panose="020B0300000000000000" charset="-128"/>
                  <a:sym typeface="Arial"/>
                </a:rPr>
                <a:t>、消息队列等场景，能够提供快速的读写能力，两者结合能够保证系统数据处理的效率和可靠性。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"/>
                <a:cs typeface="思源黑体 CN Normal" panose="020B0400000000000000" charset="-122"/>
                <a:sym typeface="Arial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29232406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16305"/>
          <p:cNvPicPr>
            <a:picLocks noChangeAspect="1"/>
          </p:cNvPicPr>
          <p:nvPr/>
        </p:nvPicPr>
        <p:blipFill>
          <a:blip r:embed="rId3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/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/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/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58496" y="1087120"/>
            <a:ext cx="3717926" cy="4185920"/>
            <a:chOff x="1037" y="1712"/>
            <a:chExt cx="5855" cy="6592"/>
          </a:xfrm>
        </p:grpSpPr>
        <p:sp>
          <p:nvSpPr>
            <p:cNvPr id="40" name="平行四边形 39"/>
            <p:cNvSpPr/>
            <p:nvPr/>
          </p:nvSpPr>
          <p:spPr>
            <a:xfrm>
              <a:off x="1237" y="6154"/>
              <a:ext cx="4174" cy="859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84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1037" y="1712"/>
              <a:ext cx="5855" cy="6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6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mpact" pitchFamily="34" charset="0"/>
                  <a:ea typeface="微软雅黑"/>
                  <a:sym typeface="Arial"/>
                </a:rPr>
                <a:t>0</a:t>
              </a:r>
              <a:r>
                <a:rPr lang="en-US" altLang="zh-CN" sz="26600" dirty="0">
                  <a:solidFill>
                    <a:schemeClr val="accent2"/>
                  </a:solidFill>
                  <a:latin typeface="Impact" pitchFamily="34" charset="0"/>
                  <a:ea typeface="微软雅黑"/>
                  <a:sym typeface="Arial"/>
                </a:rPr>
                <a:t>4</a:t>
              </a:r>
            </a:p>
          </p:txBody>
        </p:sp>
      </p:grpSp>
      <p:sp>
        <p:nvSpPr>
          <p:cNvPr id="539" name="文本框 538"/>
          <p:cNvSpPr txBox="1"/>
          <p:nvPr/>
        </p:nvSpPr>
        <p:spPr>
          <a:xfrm>
            <a:off x="981075" y="956312"/>
            <a:ext cx="1545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PART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4334106" y="2587599"/>
            <a:ext cx="6775451" cy="1200150"/>
            <a:chOff x="6730" y="2714"/>
            <a:chExt cx="10670" cy="1890"/>
          </a:xfrm>
        </p:grpSpPr>
        <p:sp>
          <p:nvSpPr>
            <p:cNvPr id="25" name="平行四边形 24"/>
            <p:cNvSpPr/>
            <p:nvPr/>
          </p:nvSpPr>
          <p:spPr>
            <a:xfrm flipH="1" flipV="1">
              <a:off x="11148" y="4015"/>
              <a:ext cx="6252" cy="547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730" y="2714"/>
              <a:ext cx="10480" cy="18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R="0" lvl="0" indent="0" algn="dist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7200" b="1" spc="30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思源宋体 CN Heavy" pitchFamily="18" charset="-122"/>
                  <a:ea typeface="思源宋体 CN Heavy" pitchFamily="18" charset="-122"/>
                </a:defRPr>
              </a:lvl1pPr>
            </a:lstStyle>
            <a:p>
              <a:r>
                <a:rPr lang="zh-CN" altLang="en-US" dirty="0">
                  <a:sym typeface="Arial"/>
                </a:rPr>
                <a:t>项目进度计划</a:t>
              </a:r>
            </a:p>
          </p:txBody>
        </p:sp>
      </p:grpSp>
      <p:grpSp>
        <p:nvGrpSpPr>
          <p:cNvPr id="1070" name="组合 1069"/>
          <p:cNvGrpSpPr/>
          <p:nvPr/>
        </p:nvGrpSpPr>
        <p:grpSpPr>
          <a:xfrm>
            <a:off x="10283826" y="4453228"/>
            <a:ext cx="644349" cy="146060"/>
            <a:chOff x="4438457" y="299555"/>
            <a:chExt cx="1007449" cy="228367"/>
          </a:xfrm>
        </p:grpSpPr>
        <p:sp>
          <p:nvSpPr>
            <p:cNvPr id="1067" name="椭圆 1066"/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/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/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821114" y="542360"/>
            <a:ext cx="819111" cy="238954"/>
            <a:chOff x="1360474" y="6383009"/>
            <a:chExt cx="819110" cy="238954"/>
          </a:xfrm>
        </p:grpSpPr>
        <p:sp>
          <p:nvSpPr>
            <p:cNvPr id="58" name="任意多边形: 形状 4"/>
            <p:cNvSpPr/>
            <p:nvPr/>
          </p:nvSpPr>
          <p:spPr>
            <a:xfrm rot="18900000">
              <a:off x="1360474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59" name="任意多边形: 形状 15"/>
            <p:cNvSpPr/>
            <p:nvPr/>
          </p:nvSpPr>
          <p:spPr>
            <a:xfrm rot="18900000">
              <a:off x="1650552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16000">
                  <a:srgbClr val="FCA092"/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任意多边形: 形状 16"/>
            <p:cNvSpPr/>
            <p:nvPr/>
          </p:nvSpPr>
          <p:spPr>
            <a:xfrm rot="18900000">
              <a:off x="1940630" y="6383009"/>
              <a:ext cx="238954" cy="238954"/>
            </a:xfrm>
            <a:custGeom>
              <a:avLst/>
              <a:gdLst>
                <a:gd name="connsiteX0" fmla="*/ 1426045 w 1503044"/>
                <a:gd name="connsiteY0" fmla="*/ 76999 h 1503046"/>
                <a:gd name="connsiteX1" fmla="*/ 1503044 w 1503044"/>
                <a:gd name="connsiteY1" fmla="*/ 262890 h 1503046"/>
                <a:gd name="connsiteX2" fmla="*/ 1503044 w 1503044"/>
                <a:gd name="connsiteY2" fmla="*/ 1215390 h 1503046"/>
                <a:gd name="connsiteX3" fmla="*/ 1426045 w 1503044"/>
                <a:gd name="connsiteY3" fmla="*/ 1401281 h 1503046"/>
                <a:gd name="connsiteX4" fmla="*/ 1412480 w 1503044"/>
                <a:gd name="connsiteY4" fmla="*/ 1412473 h 1503046"/>
                <a:gd name="connsiteX5" fmla="*/ 1401281 w 1503044"/>
                <a:gd name="connsiteY5" fmla="*/ 1426047 h 1503046"/>
                <a:gd name="connsiteX6" fmla="*/ 1215390 w 1503044"/>
                <a:gd name="connsiteY6" fmla="*/ 1503046 h 1503046"/>
                <a:gd name="connsiteX7" fmla="*/ 262890 w 1503044"/>
                <a:gd name="connsiteY7" fmla="*/ 1503045 h 1503046"/>
                <a:gd name="connsiteX8" fmla="*/ 0 w 1503044"/>
                <a:gd name="connsiteY8" fmla="*/ 1240156 h 1503046"/>
                <a:gd name="connsiteX9" fmla="*/ 262890 w 1503044"/>
                <a:gd name="connsiteY9" fmla="*/ 977265 h 1503046"/>
                <a:gd name="connsiteX10" fmla="*/ 977264 w 1503044"/>
                <a:gd name="connsiteY10" fmla="*/ 977266 h 1503046"/>
                <a:gd name="connsiteX11" fmla="*/ 977264 w 1503044"/>
                <a:gd name="connsiteY11" fmla="*/ 262890 h 1503046"/>
                <a:gd name="connsiteX12" fmla="*/ 1240154 w 1503044"/>
                <a:gd name="connsiteY12" fmla="*/ 0 h 1503046"/>
                <a:gd name="connsiteX13" fmla="*/ 1426045 w 1503044"/>
                <a:gd name="connsiteY13" fmla="*/ 76999 h 150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3044" h="1503046">
                  <a:moveTo>
                    <a:pt x="1426045" y="76999"/>
                  </a:moveTo>
                  <a:cubicBezTo>
                    <a:pt x="1473619" y="124573"/>
                    <a:pt x="1503044" y="190295"/>
                    <a:pt x="1503044" y="262890"/>
                  </a:cubicBezTo>
                  <a:lnTo>
                    <a:pt x="1503044" y="1215390"/>
                  </a:lnTo>
                  <a:cubicBezTo>
                    <a:pt x="1503044" y="1287985"/>
                    <a:pt x="1473619" y="1353707"/>
                    <a:pt x="1426045" y="1401281"/>
                  </a:cubicBezTo>
                  <a:lnTo>
                    <a:pt x="1412480" y="1412473"/>
                  </a:lnTo>
                  <a:lnTo>
                    <a:pt x="1401281" y="1426047"/>
                  </a:lnTo>
                  <a:cubicBezTo>
                    <a:pt x="1353707" y="1473620"/>
                    <a:pt x="1287985" y="1503046"/>
                    <a:pt x="1215390" y="1503046"/>
                  </a:cubicBezTo>
                  <a:lnTo>
                    <a:pt x="262890" y="1503045"/>
                  </a:lnTo>
                  <a:cubicBezTo>
                    <a:pt x="117700" y="1503046"/>
                    <a:pt x="0" y="1385346"/>
                    <a:pt x="0" y="1240156"/>
                  </a:cubicBezTo>
                  <a:cubicBezTo>
                    <a:pt x="0" y="1094966"/>
                    <a:pt x="117700" y="977266"/>
                    <a:pt x="262890" y="977265"/>
                  </a:cubicBezTo>
                  <a:lnTo>
                    <a:pt x="977264" y="977266"/>
                  </a:lnTo>
                  <a:lnTo>
                    <a:pt x="977264" y="262890"/>
                  </a:lnTo>
                  <a:cubicBezTo>
                    <a:pt x="977264" y="117700"/>
                    <a:pt x="1094964" y="0"/>
                    <a:pt x="1240154" y="0"/>
                  </a:cubicBezTo>
                  <a:cubicBezTo>
                    <a:pt x="1312749" y="0"/>
                    <a:pt x="1378472" y="29425"/>
                    <a:pt x="1426045" y="76999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20000">
                  <a:srgbClr val="9CDBE5">
                    <a:alpha val="100000"/>
                  </a:srgbClr>
                </a:gs>
                <a:gs pos="100000">
                  <a:schemeClr val="accent2"/>
                </a:gs>
              </a:gsLst>
              <a:lin ang="13500000" scaled="0"/>
            </a:gradFill>
            <a:ln>
              <a:solidFill>
                <a:schemeClr val="bg2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2000">
    <p:checker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" grpId="0"/>
      <p:bldP spid="53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E16B-1BB1-3F88-1172-207CDB4E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 descr="16305">
            <a:extLst>
              <a:ext uri="{FF2B5EF4-FFF2-40B4-BE49-F238E27FC236}">
                <a16:creationId xmlns:a16="http://schemas.microsoft.com/office/drawing/2014/main" id="{10B9A385-965A-D625-470E-35F00911B0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"/>
          </a:blip>
          <a:srcRect t="7813" b="7813"/>
          <a:stretch>
            <a:fillRect/>
          </a:stretch>
        </p:blipFill>
        <p:spPr>
          <a:xfrm>
            <a:off x="1" y="0"/>
            <a:ext cx="12192635" cy="6858635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828BDD5D-5781-061F-0454-AB89EA3F0DC8}"/>
              </a:ext>
            </a:extLst>
          </p:cNvPr>
          <p:cNvGrpSpPr/>
          <p:nvPr/>
        </p:nvGrpSpPr>
        <p:grpSpPr>
          <a:xfrm>
            <a:off x="-129540" y="5702937"/>
            <a:ext cx="12452351" cy="1193165"/>
            <a:chOff x="-204" y="8021"/>
            <a:chExt cx="19610" cy="2991"/>
          </a:xfrm>
        </p:grpSpPr>
        <p:sp>
          <p:nvSpPr>
            <p:cNvPr id="84" name="任意多边形: 形状 9">
              <a:extLst>
                <a:ext uri="{FF2B5EF4-FFF2-40B4-BE49-F238E27FC236}">
                  <a16:creationId xmlns:a16="http://schemas.microsoft.com/office/drawing/2014/main" id="{3583732A-114D-F354-A754-1925A9A8671A}"/>
                </a:ext>
              </a:extLst>
            </p:cNvPr>
            <p:cNvSpPr/>
            <p:nvPr/>
          </p:nvSpPr>
          <p:spPr>
            <a:xfrm rot="10800000" flipH="1" flipV="1">
              <a:off x="-204" y="8021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5" name="任意多边形: 形状 9">
              <a:extLst>
                <a:ext uri="{FF2B5EF4-FFF2-40B4-BE49-F238E27FC236}">
                  <a16:creationId xmlns:a16="http://schemas.microsoft.com/office/drawing/2014/main" id="{C2D30180-E473-4C82-AE04-F3F19334F234}"/>
                </a:ext>
              </a:extLst>
            </p:cNvPr>
            <p:cNvSpPr/>
            <p:nvPr/>
          </p:nvSpPr>
          <p:spPr>
            <a:xfrm rot="10800000" flipH="1" flipV="1">
              <a:off x="-204" y="8854"/>
              <a:ext cx="19611" cy="2159"/>
            </a:xfrm>
            <a:custGeom>
              <a:avLst/>
              <a:gdLst>
                <a:gd name="connsiteX0" fmla="*/ 12453258 w 12453258"/>
                <a:gd name="connsiteY0" fmla="*/ 0 h 1370654"/>
                <a:gd name="connsiteX1" fmla="*/ 12453258 w 12453258"/>
                <a:gd name="connsiteY1" fmla="*/ 1370654 h 1370654"/>
                <a:gd name="connsiteX2" fmla="*/ 0 w 12453258"/>
                <a:gd name="connsiteY2" fmla="*/ 1370654 h 1370654"/>
                <a:gd name="connsiteX3" fmla="*/ 0 w 12453258"/>
                <a:gd name="connsiteY3" fmla="*/ 92 h 1370654"/>
                <a:gd name="connsiteX4" fmla="*/ 271845 w 12453258"/>
                <a:gd name="connsiteY4" fmla="*/ 5877 h 1370654"/>
                <a:gd name="connsiteX5" fmla="*/ 3623692 w 12453258"/>
                <a:gd name="connsiteY5" fmla="*/ 173543 h 1370654"/>
                <a:gd name="connsiteX6" fmla="*/ 6002355 w 12453258"/>
                <a:gd name="connsiteY6" fmla="*/ 805477 h 1370654"/>
                <a:gd name="connsiteX7" fmla="*/ 6224177 w 12453258"/>
                <a:gd name="connsiteY7" fmla="*/ 1079286 h 1370654"/>
                <a:gd name="connsiteX8" fmla="*/ 6224457 w 12453258"/>
                <a:gd name="connsiteY8" fmla="*/ 1079981 h 1370654"/>
                <a:gd name="connsiteX9" fmla="*/ 6224738 w 12453258"/>
                <a:gd name="connsiteY9" fmla="*/ 1079286 h 1370654"/>
                <a:gd name="connsiteX10" fmla="*/ 6446561 w 12453258"/>
                <a:gd name="connsiteY10" fmla="*/ 805477 h 1370654"/>
                <a:gd name="connsiteX11" fmla="*/ 8825222 w 12453258"/>
                <a:gd name="connsiteY11" fmla="*/ 173543 h 1370654"/>
                <a:gd name="connsiteX12" fmla="*/ 12177070 w 12453258"/>
                <a:gd name="connsiteY12" fmla="*/ 5877 h 137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53258" h="1370654">
                  <a:moveTo>
                    <a:pt x="12453258" y="0"/>
                  </a:moveTo>
                  <a:lnTo>
                    <a:pt x="12453258" y="1370654"/>
                  </a:lnTo>
                  <a:lnTo>
                    <a:pt x="0" y="1370654"/>
                  </a:lnTo>
                  <a:lnTo>
                    <a:pt x="0" y="92"/>
                  </a:lnTo>
                  <a:lnTo>
                    <a:pt x="271845" y="5877"/>
                  </a:lnTo>
                  <a:cubicBezTo>
                    <a:pt x="1575973" y="35990"/>
                    <a:pt x="2765918" y="81856"/>
                    <a:pt x="3623692" y="173543"/>
                  </a:cubicBezTo>
                  <a:cubicBezTo>
                    <a:pt x="4930780" y="313255"/>
                    <a:pt x="5556442" y="445284"/>
                    <a:pt x="6002355" y="805477"/>
                  </a:cubicBezTo>
                  <a:cubicBezTo>
                    <a:pt x="6099896" y="884269"/>
                    <a:pt x="6171879" y="977029"/>
                    <a:pt x="6224177" y="1079286"/>
                  </a:cubicBezTo>
                  <a:lnTo>
                    <a:pt x="6224457" y="1079981"/>
                  </a:lnTo>
                  <a:lnTo>
                    <a:pt x="6224738" y="1079286"/>
                  </a:lnTo>
                  <a:cubicBezTo>
                    <a:pt x="6277037" y="977029"/>
                    <a:pt x="6349018" y="884269"/>
                    <a:pt x="6446561" y="805477"/>
                  </a:cubicBezTo>
                  <a:cubicBezTo>
                    <a:pt x="6892472" y="445284"/>
                    <a:pt x="7518137" y="313255"/>
                    <a:pt x="8825222" y="173543"/>
                  </a:cubicBezTo>
                  <a:cubicBezTo>
                    <a:pt x="9682996" y="81856"/>
                    <a:pt x="10872942" y="35991"/>
                    <a:pt x="12177070" y="5877"/>
                  </a:cubicBezTo>
                  <a:close/>
                </a:path>
              </a:pathLst>
            </a:custGeom>
            <a:gradFill>
              <a:gsLst>
                <a:gs pos="71000">
                  <a:srgbClr val="9CDBE5">
                    <a:alpha val="100000"/>
                  </a:srgb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10800000" scaled="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56368C7-5025-FBFA-7A26-DDF5E8013212}"/>
              </a:ext>
            </a:extLst>
          </p:cNvPr>
          <p:cNvGrpSpPr/>
          <p:nvPr/>
        </p:nvGrpSpPr>
        <p:grpSpPr>
          <a:xfrm>
            <a:off x="198044" y="192926"/>
            <a:ext cx="3680460" cy="789179"/>
            <a:chOff x="369" y="1183"/>
            <a:chExt cx="6416" cy="1526"/>
          </a:xfrm>
        </p:grpSpPr>
        <p:sp>
          <p:nvSpPr>
            <p:cNvPr id="135" name="平行四边形 134">
              <a:extLst>
                <a:ext uri="{FF2B5EF4-FFF2-40B4-BE49-F238E27FC236}">
                  <a16:creationId xmlns:a16="http://schemas.microsoft.com/office/drawing/2014/main" id="{8899D6A0-137B-490A-FAE0-8282FF2DB1B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69" y="1926"/>
              <a:ext cx="6416" cy="783"/>
            </a:xfrm>
            <a:prstGeom prst="parallelogram">
              <a:avLst/>
            </a:prstGeom>
            <a:gradFill>
              <a:gsLst>
                <a:gs pos="31000">
                  <a:schemeClr val="bg1">
                    <a:alpha val="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Arial"/>
                <a:ea typeface="微软雅黑"/>
                <a:cs typeface="思源宋体 CN Heavy" panose="02020900000000000000" pitchFamily="18" charset="-122"/>
                <a:sym typeface="Arial"/>
              </a:endParaRPr>
            </a:p>
          </p:txBody>
        </p:sp>
        <p:sp>
          <p:nvSpPr>
            <p:cNvPr id="136" name="图形">
              <a:extLst>
                <a:ext uri="{FF2B5EF4-FFF2-40B4-BE49-F238E27FC236}">
                  <a16:creationId xmlns:a16="http://schemas.microsoft.com/office/drawing/2014/main" id="{903C9D76-2823-623A-7EC1-CA8EC0712A0A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92" y="1183"/>
              <a:ext cx="5614" cy="134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sym typeface="Arial"/>
                </a:rPr>
                <a:t>项目计划进度</a:t>
              </a:r>
              <a:endParaRPr lang="zh-CN" altLang="en-US" sz="3200" b="1" spc="3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sym typeface="Arial"/>
              </a:endParaRPr>
            </a:p>
          </p:txBody>
        </p:sp>
      </p:grpSp>
      <p:sp>
        <p:nvSpPr>
          <p:cNvPr id="54" name="TextBox 9">
            <a:extLst>
              <a:ext uri="{FF2B5EF4-FFF2-40B4-BE49-F238E27FC236}">
                <a16:creationId xmlns:a16="http://schemas.microsoft.com/office/drawing/2014/main" id="{1016D735-07D4-A3E6-6554-1E0D47C835AF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6DDF7A1-D567-F41C-CCCA-D73305396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205996"/>
              </p:ext>
            </p:extLst>
          </p:nvPr>
        </p:nvGraphicFramePr>
        <p:xfrm>
          <a:off x="453651" y="1342441"/>
          <a:ext cx="11284260" cy="3524376"/>
        </p:xfrm>
        <a:graphic>
          <a:graphicData uri="http://schemas.openxmlformats.org/drawingml/2006/table">
            <a:tbl>
              <a:tblPr/>
              <a:tblGrid>
                <a:gridCol w="1897664">
                  <a:extLst>
                    <a:ext uri="{9D8B030D-6E8A-4147-A177-3AD203B41FA5}">
                      <a16:colId xmlns:a16="http://schemas.microsoft.com/office/drawing/2014/main" val="3155518405"/>
                    </a:ext>
                  </a:extLst>
                </a:gridCol>
                <a:gridCol w="3377682">
                  <a:extLst>
                    <a:ext uri="{9D8B030D-6E8A-4147-A177-3AD203B41FA5}">
                      <a16:colId xmlns:a16="http://schemas.microsoft.com/office/drawing/2014/main" val="194247850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3237897828"/>
                    </a:ext>
                  </a:extLst>
                </a:gridCol>
              </a:tblGrid>
              <a:tr h="4271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序号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日期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进度安排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979875"/>
                  </a:ext>
                </a:extLst>
              </a:tr>
              <a:tr h="7475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2024.11.25—2025.01.10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完成调研和文献查阅工作，撰写开题报告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81523"/>
                  </a:ext>
                </a:extLst>
              </a:tr>
              <a:tr h="7475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2025.01.11—2025.03.15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完成系统的需求分析、可行性分析和系统设计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8020"/>
                  </a:ext>
                </a:extLst>
              </a:tr>
              <a:tr h="7475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3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2025.03.16—2025.04.15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实现各个功能模块、测试并运行调试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0167"/>
                  </a:ext>
                </a:extLst>
              </a:tr>
              <a:tr h="427197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4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2025.04.16—2025.05.10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完成论文的初稿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40927"/>
                  </a:ext>
                </a:extLst>
              </a:tr>
              <a:tr h="427197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5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2025.05.10—2025.05.31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修改论文并提交终稿、准备答辩 </a:t>
                      </a:r>
                    </a:p>
                  </a:txBody>
                  <a:tcPr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16125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78727690"/>
      </p:ext>
    </p:extLst>
  </p:cSld>
  <p:clrMapOvr>
    <a:masterClrMapping/>
  </p:clrMapOvr>
  <p:transition advTm="2000">
    <p:wheel spokes="2"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5DF0-214A-F7FC-DD80-3D3D6679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16305">
            <a:extLst>
              <a:ext uri="{FF2B5EF4-FFF2-40B4-BE49-F238E27FC236}">
                <a16:creationId xmlns:a16="http://schemas.microsoft.com/office/drawing/2014/main" id="{A395E284-2A8D-8296-21A0-FC76B558CB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"/>
          </a:blip>
          <a:srcRect t="7813" b="7813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4C4F038A-A636-2F2F-9DAA-A57850A168DC}"/>
              </a:ext>
            </a:extLst>
          </p:cNvPr>
          <p:cNvSpPr/>
          <p:nvPr/>
        </p:nvSpPr>
        <p:spPr>
          <a:xfrm rot="10800000" flipH="1" flipV="1">
            <a:off x="-129360" y="5093227"/>
            <a:ext cx="12453259" cy="1370654"/>
          </a:xfrm>
          <a:custGeom>
            <a:avLst/>
            <a:gdLst>
              <a:gd name="connsiteX0" fmla="*/ 12453258 w 12453258"/>
              <a:gd name="connsiteY0" fmla="*/ 0 h 1370654"/>
              <a:gd name="connsiteX1" fmla="*/ 12453258 w 12453258"/>
              <a:gd name="connsiteY1" fmla="*/ 1370654 h 1370654"/>
              <a:gd name="connsiteX2" fmla="*/ 0 w 12453258"/>
              <a:gd name="connsiteY2" fmla="*/ 1370654 h 1370654"/>
              <a:gd name="connsiteX3" fmla="*/ 0 w 12453258"/>
              <a:gd name="connsiteY3" fmla="*/ 92 h 1370654"/>
              <a:gd name="connsiteX4" fmla="*/ 271845 w 12453258"/>
              <a:gd name="connsiteY4" fmla="*/ 5877 h 1370654"/>
              <a:gd name="connsiteX5" fmla="*/ 3623692 w 12453258"/>
              <a:gd name="connsiteY5" fmla="*/ 173543 h 1370654"/>
              <a:gd name="connsiteX6" fmla="*/ 6002355 w 12453258"/>
              <a:gd name="connsiteY6" fmla="*/ 805477 h 1370654"/>
              <a:gd name="connsiteX7" fmla="*/ 6224177 w 12453258"/>
              <a:gd name="connsiteY7" fmla="*/ 1079286 h 1370654"/>
              <a:gd name="connsiteX8" fmla="*/ 6224457 w 12453258"/>
              <a:gd name="connsiteY8" fmla="*/ 1079981 h 1370654"/>
              <a:gd name="connsiteX9" fmla="*/ 6224738 w 12453258"/>
              <a:gd name="connsiteY9" fmla="*/ 1079286 h 1370654"/>
              <a:gd name="connsiteX10" fmla="*/ 6446561 w 12453258"/>
              <a:gd name="connsiteY10" fmla="*/ 805477 h 1370654"/>
              <a:gd name="connsiteX11" fmla="*/ 8825222 w 12453258"/>
              <a:gd name="connsiteY11" fmla="*/ 173543 h 1370654"/>
              <a:gd name="connsiteX12" fmla="*/ 12177070 w 12453258"/>
              <a:gd name="connsiteY12" fmla="*/ 5877 h 1370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453258" h="1370654">
                <a:moveTo>
                  <a:pt x="12453258" y="0"/>
                </a:moveTo>
                <a:lnTo>
                  <a:pt x="12453258" y="1370654"/>
                </a:lnTo>
                <a:lnTo>
                  <a:pt x="0" y="1370654"/>
                </a:lnTo>
                <a:lnTo>
                  <a:pt x="0" y="92"/>
                </a:lnTo>
                <a:lnTo>
                  <a:pt x="271845" y="5877"/>
                </a:lnTo>
                <a:cubicBezTo>
                  <a:pt x="1575973" y="35990"/>
                  <a:pt x="2765918" y="81856"/>
                  <a:pt x="3623692" y="173543"/>
                </a:cubicBezTo>
                <a:cubicBezTo>
                  <a:pt x="4930780" y="313255"/>
                  <a:pt x="5556442" y="445284"/>
                  <a:pt x="6002355" y="805477"/>
                </a:cubicBezTo>
                <a:cubicBezTo>
                  <a:pt x="6099896" y="884269"/>
                  <a:pt x="6171879" y="977029"/>
                  <a:pt x="6224177" y="1079286"/>
                </a:cubicBezTo>
                <a:lnTo>
                  <a:pt x="6224457" y="1079981"/>
                </a:lnTo>
                <a:lnTo>
                  <a:pt x="6224738" y="1079286"/>
                </a:lnTo>
                <a:cubicBezTo>
                  <a:pt x="6277037" y="977029"/>
                  <a:pt x="6349018" y="884269"/>
                  <a:pt x="6446561" y="805477"/>
                </a:cubicBezTo>
                <a:cubicBezTo>
                  <a:pt x="6892472" y="445284"/>
                  <a:pt x="7518137" y="313255"/>
                  <a:pt x="8825222" y="173543"/>
                </a:cubicBezTo>
                <a:cubicBezTo>
                  <a:pt x="9682996" y="81856"/>
                  <a:pt x="10872942" y="35991"/>
                  <a:pt x="12177070" y="5877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/>
              </a:gs>
            </a:gsLst>
            <a:lin ang="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3" name="任意多边形: 形状 9">
            <a:extLst>
              <a:ext uri="{FF2B5EF4-FFF2-40B4-BE49-F238E27FC236}">
                <a16:creationId xmlns:a16="http://schemas.microsoft.com/office/drawing/2014/main" id="{23897AC6-29ED-E043-BFBA-F39B2A33E4AF}"/>
              </a:ext>
            </a:extLst>
          </p:cNvPr>
          <p:cNvSpPr/>
          <p:nvPr/>
        </p:nvSpPr>
        <p:spPr>
          <a:xfrm rot="10800000" flipH="1" flipV="1">
            <a:off x="-129360" y="5622182"/>
            <a:ext cx="12453259" cy="1370654"/>
          </a:xfrm>
          <a:custGeom>
            <a:avLst/>
            <a:gdLst>
              <a:gd name="connsiteX0" fmla="*/ 12453258 w 12453258"/>
              <a:gd name="connsiteY0" fmla="*/ 0 h 1370654"/>
              <a:gd name="connsiteX1" fmla="*/ 12453258 w 12453258"/>
              <a:gd name="connsiteY1" fmla="*/ 1370654 h 1370654"/>
              <a:gd name="connsiteX2" fmla="*/ 0 w 12453258"/>
              <a:gd name="connsiteY2" fmla="*/ 1370654 h 1370654"/>
              <a:gd name="connsiteX3" fmla="*/ 0 w 12453258"/>
              <a:gd name="connsiteY3" fmla="*/ 92 h 1370654"/>
              <a:gd name="connsiteX4" fmla="*/ 271845 w 12453258"/>
              <a:gd name="connsiteY4" fmla="*/ 5877 h 1370654"/>
              <a:gd name="connsiteX5" fmla="*/ 3623692 w 12453258"/>
              <a:gd name="connsiteY5" fmla="*/ 173543 h 1370654"/>
              <a:gd name="connsiteX6" fmla="*/ 6002355 w 12453258"/>
              <a:gd name="connsiteY6" fmla="*/ 805477 h 1370654"/>
              <a:gd name="connsiteX7" fmla="*/ 6224177 w 12453258"/>
              <a:gd name="connsiteY7" fmla="*/ 1079286 h 1370654"/>
              <a:gd name="connsiteX8" fmla="*/ 6224457 w 12453258"/>
              <a:gd name="connsiteY8" fmla="*/ 1079981 h 1370654"/>
              <a:gd name="connsiteX9" fmla="*/ 6224738 w 12453258"/>
              <a:gd name="connsiteY9" fmla="*/ 1079286 h 1370654"/>
              <a:gd name="connsiteX10" fmla="*/ 6446561 w 12453258"/>
              <a:gd name="connsiteY10" fmla="*/ 805477 h 1370654"/>
              <a:gd name="connsiteX11" fmla="*/ 8825222 w 12453258"/>
              <a:gd name="connsiteY11" fmla="*/ 173543 h 1370654"/>
              <a:gd name="connsiteX12" fmla="*/ 12177070 w 12453258"/>
              <a:gd name="connsiteY12" fmla="*/ 5877 h 1370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453258" h="1370654">
                <a:moveTo>
                  <a:pt x="12453258" y="0"/>
                </a:moveTo>
                <a:lnTo>
                  <a:pt x="12453258" y="1370654"/>
                </a:lnTo>
                <a:lnTo>
                  <a:pt x="0" y="1370654"/>
                </a:lnTo>
                <a:lnTo>
                  <a:pt x="0" y="92"/>
                </a:lnTo>
                <a:lnTo>
                  <a:pt x="271845" y="5877"/>
                </a:lnTo>
                <a:cubicBezTo>
                  <a:pt x="1575973" y="35990"/>
                  <a:pt x="2765918" y="81856"/>
                  <a:pt x="3623692" y="173543"/>
                </a:cubicBezTo>
                <a:cubicBezTo>
                  <a:pt x="4930780" y="313255"/>
                  <a:pt x="5556442" y="445284"/>
                  <a:pt x="6002355" y="805477"/>
                </a:cubicBezTo>
                <a:cubicBezTo>
                  <a:pt x="6099896" y="884269"/>
                  <a:pt x="6171879" y="977029"/>
                  <a:pt x="6224177" y="1079286"/>
                </a:cubicBezTo>
                <a:lnTo>
                  <a:pt x="6224457" y="1079981"/>
                </a:lnTo>
                <a:lnTo>
                  <a:pt x="6224738" y="1079286"/>
                </a:lnTo>
                <a:cubicBezTo>
                  <a:pt x="6277037" y="977029"/>
                  <a:pt x="6349018" y="884269"/>
                  <a:pt x="6446561" y="805477"/>
                </a:cubicBezTo>
                <a:cubicBezTo>
                  <a:pt x="6892472" y="445284"/>
                  <a:pt x="7518137" y="313255"/>
                  <a:pt x="8825222" y="173543"/>
                </a:cubicBezTo>
                <a:cubicBezTo>
                  <a:pt x="9682996" y="81856"/>
                  <a:pt x="10872942" y="35991"/>
                  <a:pt x="12177070" y="5877"/>
                </a:cubicBezTo>
                <a:close/>
              </a:path>
            </a:pathLst>
          </a:custGeom>
          <a:gradFill>
            <a:gsLst>
              <a:gs pos="71000">
                <a:srgbClr val="9CDBE5">
                  <a:alpha val="100000"/>
                </a:srgbClr>
              </a:gs>
              <a:gs pos="100000">
                <a:schemeClr val="accent2">
                  <a:lumMod val="40000"/>
                  <a:lumOff val="60000"/>
                </a:schemeClr>
              </a:gs>
              <a:gs pos="0">
                <a:schemeClr val="accent2"/>
              </a:gs>
            </a:gsLst>
            <a:lin ang="10800000" scaled="0"/>
          </a:gra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8C79EAE2-DA94-561B-5FBD-522E50F346FA}"/>
              </a:ext>
            </a:extLst>
          </p:cNvPr>
          <p:cNvSpPr txBox="1"/>
          <p:nvPr/>
        </p:nvSpPr>
        <p:spPr>
          <a:xfrm>
            <a:off x="5375039" y="4230397"/>
            <a:ext cx="6946956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zh-CN" sz="3200" dirty="0"/>
              <a:t>“饭来了”校园外卖平台的设计与实现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"/>
              <a:cs typeface="包图粗黑体" panose="02000800000000000000" charset="-122"/>
              <a:sym typeface="Arial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67CA415-A28A-4059-39A0-AB0FB10CCFFE}"/>
              </a:ext>
            </a:extLst>
          </p:cNvPr>
          <p:cNvGrpSpPr/>
          <p:nvPr/>
        </p:nvGrpSpPr>
        <p:grpSpPr>
          <a:xfrm>
            <a:off x="1101012" y="337791"/>
            <a:ext cx="9628901" cy="1368065"/>
            <a:chOff x="4796" y="1335"/>
            <a:chExt cx="10132" cy="1364"/>
          </a:xfrm>
        </p:grpSpPr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E8F3B58A-9851-BCE6-F00E-CFB857C68D2E}"/>
                </a:ext>
              </a:extLst>
            </p:cNvPr>
            <p:cNvSpPr/>
            <p:nvPr/>
          </p:nvSpPr>
          <p:spPr>
            <a:xfrm flipH="1" flipV="1">
              <a:off x="12669" y="2301"/>
              <a:ext cx="1859" cy="268"/>
            </a:xfrm>
            <a:prstGeom prst="parallelogram">
              <a:avLst>
                <a:gd name="adj" fmla="val 22160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84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E65351B-C886-F502-3FA4-430FEFCB9A9B}"/>
                </a:ext>
              </a:extLst>
            </p:cNvPr>
            <p:cNvGrpSpPr/>
            <p:nvPr/>
          </p:nvGrpSpPr>
          <p:grpSpPr>
            <a:xfrm>
              <a:off x="4796" y="1335"/>
              <a:ext cx="10132" cy="1364"/>
              <a:chOff x="4338" y="1178"/>
              <a:chExt cx="10132" cy="1364"/>
            </a:xfrm>
          </p:grpSpPr>
          <p:sp>
            <p:nvSpPr>
              <p:cNvPr id="40" name="平行四边形 39">
                <a:extLst>
                  <a:ext uri="{FF2B5EF4-FFF2-40B4-BE49-F238E27FC236}">
                    <a16:creationId xmlns:a16="http://schemas.microsoft.com/office/drawing/2014/main" id="{A65F9AE5-B064-6248-D057-26938391540E}"/>
                  </a:ext>
                </a:extLst>
              </p:cNvPr>
              <p:cNvSpPr/>
              <p:nvPr/>
            </p:nvSpPr>
            <p:spPr>
              <a:xfrm>
                <a:off x="4338" y="1683"/>
                <a:ext cx="5493" cy="859"/>
              </a:xfrm>
              <a:prstGeom prst="parallelogram">
                <a:avLst>
                  <a:gd name="adj" fmla="val 2216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84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4AD78C6-60AE-97BE-7A09-E889C246264A}"/>
                  </a:ext>
                </a:extLst>
              </p:cNvPr>
              <p:cNvSpPr txBox="1"/>
              <p:nvPr/>
            </p:nvSpPr>
            <p:spPr>
              <a:xfrm>
                <a:off x="10154" y="1178"/>
                <a:ext cx="4316" cy="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3200" b="1" dirty="0">
                    <a:solidFill>
                      <a:schemeClr val="accent2"/>
                    </a:solidFill>
                    <a:latin typeface="思源宋体 CN Heavy" pitchFamily="18" charset="-122"/>
                    <a:ea typeface="思源宋体 CN Heavy" pitchFamily="18" charset="-122"/>
                    <a:sym typeface="Arial"/>
                  </a:rPr>
                  <a:t>开题</a:t>
                </a:r>
                <a:r>
                  <a:rPr lang="zh-CN" alt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宋体 CN Heavy" pitchFamily="18" charset="-122"/>
                    <a:ea typeface="思源宋体 CN Heavy" pitchFamily="18" charset="-122"/>
                    <a:sym typeface="Arial"/>
                  </a:rPr>
                  <a:t>报告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A44E566-C3A9-D263-AAF4-F7ECF950C62A}"/>
                  </a:ext>
                </a:extLst>
              </p:cNvPr>
              <p:cNvSpPr txBox="1"/>
              <p:nvPr/>
            </p:nvSpPr>
            <p:spPr>
              <a:xfrm>
                <a:off x="4572" y="1814"/>
                <a:ext cx="4607" cy="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ea typeface="微软雅黑"/>
                    <a:sym typeface="Arial"/>
                  </a:rPr>
                  <a:t>数学与计算机学院</a:t>
                </a:r>
              </a:p>
            </p:txBody>
          </p:sp>
        </p:grp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6C71E82B-5D13-BCE0-E873-1D4E9D6EDE17}"/>
              </a:ext>
            </a:extLst>
          </p:cNvPr>
          <p:cNvGrpSpPr/>
          <p:nvPr/>
        </p:nvGrpSpPr>
        <p:grpSpPr>
          <a:xfrm>
            <a:off x="11054080" y="480033"/>
            <a:ext cx="644349" cy="146060"/>
            <a:chOff x="4438457" y="299555"/>
            <a:chExt cx="1007449" cy="228367"/>
          </a:xfrm>
        </p:grpSpPr>
        <p:sp>
          <p:nvSpPr>
            <p:cNvPr id="1067" name="椭圆 1066">
              <a:extLst>
                <a:ext uri="{FF2B5EF4-FFF2-40B4-BE49-F238E27FC236}">
                  <a16:creationId xmlns:a16="http://schemas.microsoft.com/office/drawing/2014/main" id="{15FBAE7C-7563-1D35-C34D-A586BB48D58B}"/>
                </a:ext>
              </a:extLst>
            </p:cNvPr>
            <p:cNvSpPr/>
            <p:nvPr/>
          </p:nvSpPr>
          <p:spPr>
            <a:xfrm>
              <a:off x="4438457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8" name="椭圆 1067">
              <a:extLst>
                <a:ext uri="{FF2B5EF4-FFF2-40B4-BE49-F238E27FC236}">
                  <a16:creationId xmlns:a16="http://schemas.microsoft.com/office/drawing/2014/main" id="{9B5A2CA5-B4E9-C9DC-D284-1C79741C87D3}"/>
                </a:ext>
              </a:extLst>
            </p:cNvPr>
            <p:cNvSpPr/>
            <p:nvPr/>
          </p:nvSpPr>
          <p:spPr>
            <a:xfrm>
              <a:off x="4827998" y="299555"/>
              <a:ext cx="228367" cy="228367"/>
            </a:xfrm>
            <a:prstGeom prst="ellipse">
              <a:avLst/>
            </a:prstGeom>
            <a:gradFill>
              <a:gsLst>
                <a:gs pos="73000">
                  <a:srgbClr val="8ED6E1">
                    <a:alpha val="100000"/>
                  </a:srgbClr>
                </a:gs>
                <a:gs pos="100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1069" name="椭圆 1068">
              <a:extLst>
                <a:ext uri="{FF2B5EF4-FFF2-40B4-BE49-F238E27FC236}">
                  <a16:creationId xmlns:a16="http://schemas.microsoft.com/office/drawing/2014/main" id="{66A0EB69-9F90-46D8-D584-9FF68B269769}"/>
                </a:ext>
              </a:extLst>
            </p:cNvPr>
            <p:cNvSpPr/>
            <p:nvPr/>
          </p:nvSpPr>
          <p:spPr>
            <a:xfrm>
              <a:off x="5217539" y="299555"/>
              <a:ext cx="228367" cy="228367"/>
            </a:xfrm>
            <a:prstGeom prst="ellipse">
              <a:avLst/>
            </a:pr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75000">
                  <a:srgbClr val="FCA092">
                    <a:alpha val="100000"/>
                  </a:srgbClr>
                </a:gs>
                <a:gs pos="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微软雅黑"/>
                <a:sym typeface="Arial"/>
              </a:endParaRPr>
            </a:p>
          </p:txBody>
        </p:sp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080288A7-2F1A-DFCE-31D9-F19A780DC0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" y="36403"/>
            <a:ext cx="2376194" cy="7329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75E9334-732A-763B-067B-62834964D45C}"/>
              </a:ext>
            </a:extLst>
          </p:cNvPr>
          <p:cNvSpPr txBox="1"/>
          <p:nvPr/>
        </p:nvSpPr>
        <p:spPr>
          <a:xfrm>
            <a:off x="1567089" y="2371039"/>
            <a:ext cx="8782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 dirty="0">
                <a:solidFill>
                  <a:schemeClr val="accent2"/>
                </a:solidFill>
                <a:latin typeface="思源宋体 CN Heavy" pitchFamily="18" charset="-122"/>
                <a:ea typeface="思源宋体 CN Heavy" pitchFamily="18" charset="-122"/>
                <a:sym typeface="Arial"/>
              </a:rPr>
              <a:t>感谢</a:t>
            </a:r>
            <a:r>
              <a:rPr lang="zh-CN" altLang="en-US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Arial"/>
              </a:rPr>
              <a:t>各位</a:t>
            </a:r>
            <a:r>
              <a:rPr lang="zh-CN" altLang="en-US" sz="8000" b="1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Arial"/>
              </a:rPr>
              <a:t>老师</a:t>
            </a:r>
            <a:r>
              <a:rPr lang="zh-CN" altLang="en-US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sym typeface="Arial"/>
              </a:rPr>
              <a:t>聆听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8488269"/>
      </p:ext>
    </p:extLst>
  </p:cSld>
  <p:clrMapOvr>
    <a:masterClrMapping/>
  </p:clrMapOvr>
  <p:transition advTm="2000">
    <p:wedge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6" grpId="0"/>
      <p:bldP spid="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A4MTdjNTgxNmFlYzk3ZWYxMjQyMTJhNmViNGIxM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UNIT_FILL_FORE_SCHEMECOLOR_INDEX_BRIGHTNESS" val="0"/>
  <p:tag name="KSO_WM_UNIT_FILL_FORE_SCHEMECOLOR_INDEX" val="14"/>
  <p:tag name="KSO_WM_UNI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_BRIGHTNESS" val="0.15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DIAGRAM_VIRTUALLY_FRAME" val="{&quot;height&quot;:255.8,&quot;left&quot;:41.35,&quot;top&quot;:142.5,&quot;width&quot;:866.662913385826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DIAGRAM_VIRTUALLY_FRAME" val="{&quot;height&quot;:255.8,&quot;left&quot;:41.35,&quot;top&quot;:142.5,&quot;width&quot;:866.662913385826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DIAGRAM_VIRTUALLY_FRAME" val="{&quot;height&quot;:255.8,&quot;left&quot;:41.35,&quot;top&quot;:142.5,&quot;width&quot;:866.662913385826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BEAUTIFY_FLAG" val=""/>
  <p:tag name="KSO_WM_DIAGRAM_VIRTUALLY_FRAME" val="{&quot;height&quot;:255.8,&quot;left&quot;:41.35,&quot;top&quot;:142.5,&quot;width&quot;:866.662913385826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7748031496066,&quot;left&quot;:41.36503937007875,&quot;top&quot;:142.50000000000003,&quot;width&quot;:866.647874015747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7748031496066,&quot;left&quot;:41.36503937007875,&quot;top&quot;:142.50000000000003,&quot;width&quot;:866.647874015747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7748031496066,&quot;left&quot;:41.36503937007875,&quot;top&quot;:142.50000000000003,&quot;width&quot;:866.647874015747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77748031496066,&quot;left&quot;:41.36503937007875,&quot;top&quot;:142.50000000000003,&quot;width&quot;:866.647874015747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41.35,&quot;top&quot;:142.5,&quot;width&quot;:866.6629133858266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2,&quot;left&quot;:92.3,&quot;top&quot;:148.85,&quot;width&quot;:795.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2,&quot;left&quot;:92.3,&quot;top&quot;:148.85,&quot;width&quot;:795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.2,&quot;left&quot;:92.3,&quot;top&quot;:148.85,&quot;width&quot;:795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45,&quot;left&quot;:51.85,&quot;top&quot;:116.15,&quot;width&quot;:804.2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第一PPT，www.1ppt.com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FA7763"/>
      </a:accent1>
      <a:accent2>
        <a:srgbClr val="71CBD9"/>
      </a:accent2>
      <a:accent3>
        <a:srgbClr val="FA7763"/>
      </a:accent3>
      <a:accent4>
        <a:srgbClr val="71CBD9"/>
      </a:accent4>
      <a:accent5>
        <a:srgbClr val="FA7763"/>
      </a:accent5>
      <a:accent6>
        <a:srgbClr val="71CBD9"/>
      </a:accent6>
      <a:hlink>
        <a:srgbClr val="FA7763"/>
      </a:hlink>
      <a:folHlink>
        <a:srgbClr val="71CBD9"/>
      </a:folHlink>
    </a:clrScheme>
    <a:fontScheme name="自定义 9">
      <a:majorFont>
        <a:latin typeface="思源宋体"/>
        <a:ea typeface="思源宋体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"/>
        <a:ea typeface=""/>
        <a:cs typeface=""/>
        <a:font script="Jpan" typeface="ＭＳ Ｐゴシック"/>
        <a:font script="Hang" typeface="맑은 고딕"/>
        <a:font script="Hans" typeface="思源宋体"/>
        <a:font script="Hant" typeface="新細明體"/>
        <a:font script="Arab" typeface="思源宋体"/>
        <a:font script="Hebr" typeface="思源宋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宋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663</Words>
  <Application>Microsoft Office PowerPoint</Application>
  <PresentationFormat>宽屏</PresentationFormat>
  <Paragraphs>94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Inter</vt:lpstr>
      <vt:lpstr>PingFang SC</vt:lpstr>
      <vt:lpstr>汉仪中黑 197</vt:lpstr>
      <vt:lpstr>思源宋体</vt:lpstr>
      <vt:lpstr>思源宋体 CN Heavy</vt:lpstr>
      <vt:lpstr>微软雅黑</vt:lpstr>
      <vt:lpstr>Aharoni</vt:lpstr>
      <vt:lpstr>Arial</vt:lpstr>
      <vt:lpstr>Impact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第一PPT，www.1ppt.com</dc:creator>
  <cp:keywords>www.1ppt.com</cp:keywords>
  <dc:description>第一PPT</dc:description>
  <cp:lastModifiedBy>rediaz mannor</cp:lastModifiedBy>
  <cp:revision>371</cp:revision>
  <dcterms:created xsi:type="dcterms:W3CDTF">2019-06-19T02:08:00Z</dcterms:created>
  <dcterms:modified xsi:type="dcterms:W3CDTF">2024-12-31T14:59:26Z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